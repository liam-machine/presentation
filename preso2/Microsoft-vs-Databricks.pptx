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4553" y="1916162"/>
            <a:ext cx="7014895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vs Databricks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2308594" y="3001863"/>
            <a:ext cx="452666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Ecosystem Comparison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90575"/>
          </a:xfrm>
          <a:prstGeom prst="rect">
            <a:avLst/>
          </a:prstGeom>
          <a:solidFill>
            <a:srgbClr val="EB1E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0500" y="190500"/>
            <a:ext cx="893826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Apps vs Databricks Apps</a:t>
            </a:r>
            <a:endParaRPr lang="en-US" sz="2800" dirty="0"/>
          </a:p>
        </p:txBody>
      </p:sp>
      <p:pic>
        <p:nvPicPr>
          <p:cNvPr id="4" name="Image 0" descr="/Users/liamwynne/GIT/presentation/icon-powerap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6026" y="981075"/>
            <a:ext cx="634901" cy="6349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89935" y="1755577"/>
            <a:ext cx="148723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5532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Apps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90500" y="2380804"/>
            <a:ext cx="43719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90500" y="2641104"/>
            <a:ext cx="4286250" cy="784622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32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Low-code/no-code interface</a:t>
            </a:r>
            <a:endParaRPr lang="en-US" sz="1100" dirty="0"/>
          </a:p>
          <a:p>
            <a:pPr algn="l" marL="114300" indent="-114300">
              <a:lnSpc>
                <a:spcPts val="132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365 integration</a:t>
            </a:r>
            <a:endParaRPr lang="en-US" sz="1100" dirty="0"/>
          </a:p>
          <a:p>
            <a:pPr algn="l" marL="114300" indent="-114300">
              <a:lnSpc>
                <a:spcPts val="132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 prototyping</a:t>
            </a:r>
            <a:endParaRPr lang="en-US" sz="1100" dirty="0"/>
          </a:p>
          <a:p>
            <a:pPr algn="l" marL="114300" indent="-114300">
              <a:lnSpc>
                <a:spcPts val="132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connectors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90500" y="3527227"/>
            <a:ext cx="43719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90500" y="3787527"/>
            <a:ext cx="4286250" cy="784622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32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data volume handling</a:t>
            </a:r>
            <a:endParaRPr lang="en-US" sz="1100" dirty="0"/>
          </a:p>
          <a:p>
            <a:pPr algn="l" marL="114300" indent="-114300">
              <a:lnSpc>
                <a:spcPts val="132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Licensing complexity</a:t>
            </a:r>
            <a:endParaRPr lang="en-US" sz="1100" dirty="0"/>
          </a:p>
          <a:p>
            <a:pPr algn="l" marL="114300" indent="-114300">
              <a:lnSpc>
                <a:spcPts val="132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issues with large datasets</a:t>
            </a:r>
            <a:endParaRPr lang="en-US" sz="1100" dirty="0"/>
          </a:p>
          <a:p>
            <a:pPr algn="l" marL="114300" indent="-114300">
              <a:lnSpc>
                <a:spcPts val="132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Siloed from enterprise data lake</a:t>
            </a:r>
            <a:endParaRPr lang="en-US" sz="1100" dirty="0"/>
          </a:p>
        </p:txBody>
      </p:sp>
      <p:pic>
        <p:nvPicPr>
          <p:cNvPr id="10" name="Image 1" descr="/Users/liamwynne/GIT/presentation/icon-app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925" y="981075"/>
            <a:ext cx="634901" cy="63490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793132" y="1755577"/>
            <a:ext cx="203448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Databricks Apps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4667250" y="2380804"/>
            <a:ext cx="43719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667250" y="2641104"/>
            <a:ext cx="4286250" cy="784622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32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access to data lake</a:t>
            </a:r>
            <a:endParaRPr lang="en-US" sz="1100" dirty="0"/>
          </a:p>
          <a:p>
            <a:pPr algn="l" marL="114300" indent="-114300">
              <a:lnSpc>
                <a:spcPts val="132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Handles massive datasets</a:t>
            </a:r>
            <a:endParaRPr lang="en-US" sz="1100" dirty="0"/>
          </a:p>
          <a:p>
            <a:pPr algn="l" marL="114300" indent="-114300">
              <a:lnSpc>
                <a:spcPts val="132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Python/SQL flexibility</a:t>
            </a:r>
            <a:endParaRPr lang="en-US" sz="1100" dirty="0"/>
          </a:p>
          <a:p>
            <a:pPr algn="l" marL="114300" indent="-114300">
              <a:lnSpc>
                <a:spcPts val="132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data governance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667250" y="3527227"/>
            <a:ext cx="43719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667250" y="3787527"/>
            <a:ext cx="4286250" cy="578941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32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technical skills</a:t>
            </a:r>
            <a:endParaRPr lang="en-US" sz="1100" dirty="0"/>
          </a:p>
          <a:p>
            <a:pPr algn="l" marL="114300" indent="-114300">
              <a:lnSpc>
                <a:spcPts val="132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Longer initial development time</a:t>
            </a:r>
            <a:endParaRPr lang="en-US" sz="1100" dirty="0"/>
          </a:p>
          <a:p>
            <a:pPr algn="l" marL="114300" indent="-114300">
              <a:lnSpc>
                <a:spcPts val="132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Steeper learning curve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90575"/>
          </a:xfrm>
          <a:prstGeom prst="rect">
            <a:avLst/>
          </a:prstGeom>
          <a:solidFill>
            <a:srgbClr val="5532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0500" y="190500"/>
            <a:ext cx="893826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Automate vs Databricks Jobs</a:t>
            </a:r>
            <a:endParaRPr lang="en-US" sz="2800" dirty="0"/>
          </a:p>
        </p:txBody>
      </p:sp>
      <p:pic>
        <p:nvPicPr>
          <p:cNvPr id="4" name="Image 0" descr="/Users/liamwynne/GIT/presentation/icon-autom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6175" y="981075"/>
            <a:ext cx="634901" cy="6349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16534" y="1755577"/>
            <a:ext cx="203418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5532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Automate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90500" y="2380804"/>
            <a:ext cx="43719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90500" y="2641104"/>
            <a:ext cx="4286250" cy="784622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32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workflow builder</a:t>
            </a:r>
            <a:endParaRPr lang="en-US" sz="1100" dirty="0"/>
          </a:p>
          <a:p>
            <a:pPr algn="l" marL="114300" indent="-114300">
              <a:lnSpc>
                <a:spcPts val="132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Pre-built templates</a:t>
            </a:r>
            <a:endParaRPr lang="en-US" sz="1100" dirty="0"/>
          </a:p>
          <a:p>
            <a:pPr algn="l" marL="114300" indent="-114300">
              <a:lnSpc>
                <a:spcPts val="132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ecosystem integration</a:t>
            </a:r>
            <a:endParaRPr lang="en-US" sz="1100" dirty="0"/>
          </a:p>
          <a:p>
            <a:pPr algn="l" marL="114300" indent="-114300">
              <a:lnSpc>
                <a:spcPts val="132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 developer friendly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90500" y="3527227"/>
            <a:ext cx="43719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90500" y="3787527"/>
            <a:ext cx="4286250" cy="784622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32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data transformation</a:t>
            </a:r>
            <a:endParaRPr lang="en-US" sz="1100" dirty="0"/>
          </a:p>
          <a:p>
            <a:pPr algn="l" marL="114300" indent="-114300">
              <a:lnSpc>
                <a:spcPts val="132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bottlenecks</a:t>
            </a:r>
            <a:endParaRPr lang="en-US" sz="1100" dirty="0"/>
          </a:p>
          <a:p>
            <a:pPr algn="l" marL="114300" indent="-114300">
              <a:lnSpc>
                <a:spcPts val="132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error handling</a:t>
            </a:r>
            <a:endParaRPr lang="en-US" sz="1100" dirty="0"/>
          </a:p>
          <a:p>
            <a:pPr algn="l" marL="114300" indent="-114300">
              <a:lnSpc>
                <a:spcPts val="132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time limits</a:t>
            </a:r>
            <a:endParaRPr lang="en-US" sz="1100" dirty="0"/>
          </a:p>
        </p:txBody>
      </p:sp>
      <p:pic>
        <p:nvPicPr>
          <p:cNvPr id="10" name="Image 1" descr="/Users/liamwynne/GIT/presentation/icon-job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925" y="981075"/>
            <a:ext cx="634901" cy="63490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809830" y="1755577"/>
            <a:ext cx="200108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Databricks Jobs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4667250" y="2380804"/>
            <a:ext cx="43719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667250" y="2641104"/>
            <a:ext cx="4286250" cy="784622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32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 parallel processing</a:t>
            </a:r>
            <a:endParaRPr lang="en-US" sz="1100" dirty="0"/>
          </a:p>
          <a:p>
            <a:pPr algn="l" marL="114300" indent="-114300">
              <a:lnSpc>
                <a:spcPts val="132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ETL pipelines</a:t>
            </a:r>
            <a:endParaRPr lang="en-US" sz="1100" dirty="0"/>
          </a:p>
          <a:p>
            <a:pPr algn="l" marL="114300" indent="-114300">
              <a:lnSpc>
                <a:spcPts val="132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scheduling</a:t>
            </a:r>
            <a:endParaRPr lang="en-US" sz="1100" dirty="0"/>
          </a:p>
          <a:p>
            <a:pPr algn="l" marL="114300" indent="-114300">
              <a:lnSpc>
                <a:spcPts val="132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data transformation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667250" y="3527227"/>
            <a:ext cx="43719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667250" y="3787527"/>
            <a:ext cx="4286250" cy="578941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32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Code-based configuration</a:t>
            </a:r>
            <a:endParaRPr lang="en-US" sz="1100" dirty="0"/>
          </a:p>
          <a:p>
            <a:pPr algn="l" marL="114300" indent="-114300">
              <a:lnSpc>
                <a:spcPts val="132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data engineering skills</a:t>
            </a:r>
            <a:endParaRPr lang="en-US" sz="1100" dirty="0"/>
          </a:p>
          <a:p>
            <a:pPr algn="l" marL="114300" indent="-114300">
              <a:lnSpc>
                <a:spcPts val="132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initial complexity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90575"/>
          </a:xfrm>
          <a:prstGeom prst="rect">
            <a:avLst/>
          </a:prstGeom>
          <a:solidFill>
            <a:srgbClr val="EB1E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0500" y="190500"/>
            <a:ext cx="893826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SharePoint Lists vs Unity Catalog</a:t>
            </a:r>
            <a:endParaRPr lang="en-US" sz="2800" dirty="0"/>
          </a:p>
        </p:txBody>
      </p:sp>
      <p:pic>
        <p:nvPicPr>
          <p:cNvPr id="4" name="Image 0" descr="/Users/liamwynne/GIT/presentation/icon-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6175" y="981075"/>
            <a:ext cx="634901" cy="6349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11676" y="1755577"/>
            <a:ext cx="2043898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5532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SharePoint Lists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90500" y="2380804"/>
            <a:ext cx="43719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90500" y="2641104"/>
            <a:ext cx="4286250" cy="784622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32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User-friendly interface</a:t>
            </a:r>
            <a:endParaRPr lang="en-US" sz="1100" dirty="0"/>
          </a:p>
          <a:p>
            <a:pPr algn="l" marL="114300" indent="-114300">
              <a:lnSpc>
                <a:spcPts val="132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setup and deployment</a:t>
            </a:r>
            <a:endParaRPr lang="en-US" sz="1100" dirty="0"/>
          </a:p>
          <a:p>
            <a:pPr algn="l" marL="114300" indent="-114300">
              <a:lnSpc>
                <a:spcPts val="132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Familiar to business users</a:t>
            </a:r>
            <a:endParaRPr lang="en-US" sz="1100" dirty="0"/>
          </a:p>
          <a:p>
            <a:pPr algn="l" marL="114300" indent="-114300">
              <a:lnSpc>
                <a:spcPts val="132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permissions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90500" y="3527227"/>
            <a:ext cx="43719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90500" y="3787527"/>
            <a:ext cx="4286250" cy="784622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32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 item view threshold</a:t>
            </a:r>
            <a:endParaRPr lang="en-US" sz="1100" dirty="0"/>
          </a:p>
          <a:p>
            <a:pPr algn="l" marL="114300" indent="-114300">
              <a:lnSpc>
                <a:spcPts val="132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to structured data</a:t>
            </a:r>
            <a:endParaRPr lang="en-US" sz="1100" dirty="0"/>
          </a:p>
          <a:p>
            <a:pPr algn="l" marL="114300" indent="-114300">
              <a:lnSpc>
                <a:spcPts val="132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ACID transactions</a:t>
            </a:r>
            <a:endParaRPr lang="en-US" sz="1100" dirty="0"/>
          </a:p>
          <a:p>
            <a:pPr algn="l" marL="114300" indent="-114300">
              <a:lnSpc>
                <a:spcPts val="132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from analytical data</a:t>
            </a:r>
            <a:endParaRPr lang="en-US" sz="1100" dirty="0"/>
          </a:p>
        </p:txBody>
      </p:sp>
      <p:pic>
        <p:nvPicPr>
          <p:cNvPr id="10" name="Image 1" descr="/Users/liamwynne/GIT/presentation/icon-catalo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776" y="981075"/>
            <a:ext cx="634901" cy="63490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975603" y="1755577"/>
            <a:ext cx="166939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Unity Catalog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4667250" y="2380804"/>
            <a:ext cx="43719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667250" y="2641104"/>
            <a:ext cx="4286250" cy="784622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32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data governance</a:t>
            </a:r>
            <a:endParaRPr lang="en-US" sz="1100" dirty="0"/>
          </a:p>
          <a:p>
            <a:pPr algn="l" marL="114300" indent="-114300">
              <a:lnSpc>
                <a:spcPts val="132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 Lake ACID compliance</a:t>
            </a:r>
            <a:endParaRPr lang="en-US" sz="1100" dirty="0"/>
          </a:p>
          <a:p>
            <a:pPr algn="l" marL="114300" indent="-114300">
              <a:lnSpc>
                <a:spcPts val="132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Petabyte-scale capability</a:t>
            </a:r>
            <a:endParaRPr lang="en-US" sz="1100" dirty="0"/>
          </a:p>
          <a:p>
            <a:pPr algn="l" marL="114300" indent="-114300">
              <a:lnSpc>
                <a:spcPts val="132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OLTP support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667250" y="3527227"/>
            <a:ext cx="43719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667250" y="3787527"/>
            <a:ext cx="4286250" cy="578941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32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data engineering</a:t>
            </a:r>
            <a:endParaRPr lang="en-US" sz="1100" dirty="0"/>
          </a:p>
          <a:p>
            <a:pPr algn="l" marL="114300" indent="-114300">
              <a:lnSpc>
                <a:spcPts val="132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SQL/Python knowledge needed</a:t>
            </a:r>
            <a:endParaRPr lang="en-US" sz="1100" dirty="0"/>
          </a:p>
          <a:p>
            <a:pPr algn="l" marL="114300" indent="-114300">
              <a:lnSpc>
                <a:spcPts val="132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complex setup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B4D2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amwynne/GIT/presentation/icon-databric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4709" y="381000"/>
            <a:ext cx="634901" cy="6349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16560" y="493663"/>
            <a:ext cx="4562186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Databricks Key Advantage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762000" y="1206401"/>
            <a:ext cx="7620000" cy="2203996"/>
          </a:xfrm>
          <a:prstGeom prst="roundRect">
            <a:avLst>
              <a:gd name="adj" fmla="val 461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790575" y="1206401"/>
            <a:ext cx="0" cy="2203996"/>
          </a:xfrm>
          <a:prstGeom prst="line">
            <a:avLst/>
          </a:prstGeom>
          <a:noFill/>
          <a:ln w="57150">
            <a:solidFill>
              <a:srgbClr val="EB1E3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73051" y="1460302"/>
            <a:ext cx="719614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5532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Data Lake = Unified Apps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73051" y="1828502"/>
            <a:ext cx="7196149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spcBef>
                <a:spcPts val="500"/>
              </a:spcBef>
              <a:spcAft>
                <a:spcPts val="800"/>
              </a:spcAft>
              <a:buNone/>
            </a:pPr>
            <a:r>
              <a:rPr lang="en-US" sz="12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data lake simplifies development: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73051" y="2128093"/>
            <a:ext cx="7055048" cy="990302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32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source of truth for all data</a:t>
            </a:r>
            <a:endParaRPr lang="en-US" sz="1100" dirty="0"/>
          </a:p>
          <a:p>
            <a:pPr algn="l" marL="114300" indent="-114300">
              <a:lnSpc>
                <a:spcPts val="132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 span multiple datasets seamlessly</a:t>
            </a:r>
            <a:endParaRPr lang="en-US" sz="1100" dirty="0"/>
          </a:p>
          <a:p>
            <a:pPr algn="l" marL="114300" indent="-114300">
              <a:lnSpc>
                <a:spcPts val="132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data silos or duplication</a:t>
            </a:r>
            <a:endParaRPr lang="en-US" sz="1100" dirty="0"/>
          </a:p>
          <a:p>
            <a:pPr algn="l" marL="114300" indent="-114300">
              <a:lnSpc>
                <a:spcPts val="132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enterprise data access</a:t>
            </a:r>
            <a:endParaRPr lang="en-US" sz="1100" dirty="0"/>
          </a:p>
          <a:p>
            <a:pPr algn="l" marL="114300" indent="-114300">
              <a:lnSpc>
                <a:spcPts val="132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governance and security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amwynne/GIT/presentation/icon-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6641" y="317450"/>
            <a:ext cx="698450" cy="6984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47491" y="433239"/>
            <a:ext cx="4997714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5532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Development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98450" y="1206401"/>
            <a:ext cx="7747099" cy="1093887"/>
          </a:xfrm>
          <a:prstGeom prst="roundRect">
            <a:avLst>
              <a:gd name="adj" fmla="val 11610"/>
            </a:avLst>
          </a:prstGeom>
          <a:solidFill>
            <a:srgbClr val="EB1E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927050" y="1435001"/>
            <a:ext cx="7435697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 + Databricks = Rapid App Development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927050" y="1857226"/>
            <a:ext cx="7435697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LLMs to create Flask apps with natural language while leveraging production code.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98450" y="2452688"/>
            <a:ext cx="7747099" cy="1802904"/>
          </a:xfrm>
          <a:prstGeom prst="roundRect">
            <a:avLst>
              <a:gd name="adj" fmla="val 5635"/>
            </a:avLst>
          </a:prstGeom>
          <a:solidFill>
            <a:srgbClr val="B4D2C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901601" y="2655838"/>
            <a:ext cx="74876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5532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of Both Worlds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01601" y="3024039"/>
            <a:ext cx="7340798" cy="990302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32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 language: Describe in plain English</a:t>
            </a:r>
            <a:endParaRPr lang="en-US" sz="1100" dirty="0"/>
          </a:p>
          <a:p>
            <a:pPr algn="l" marL="127000" indent="-127000">
              <a:lnSpc>
                <a:spcPts val="132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Low-level code: Get robust Python/Flask apps</a:t>
            </a:r>
            <a:endParaRPr lang="en-US" sz="1100" dirty="0"/>
          </a:p>
          <a:p>
            <a:pPr algn="l" marL="127000" indent="-127000">
              <a:lnSpc>
                <a:spcPts val="132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 iteration: Generate apps in minutes</a:t>
            </a:r>
            <a:endParaRPr lang="en-US" sz="1100" dirty="0"/>
          </a:p>
          <a:p>
            <a:pPr algn="l" marL="127000" indent="-127000">
              <a:lnSpc>
                <a:spcPts val="132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data access: Connect to data lake</a:t>
            </a:r>
            <a:endParaRPr lang="en-US" sz="1100" dirty="0"/>
          </a:p>
          <a:p>
            <a:pPr algn="l" marL="127000" indent="-127000">
              <a:lnSpc>
                <a:spcPts val="132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ready: Code follows best practices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vs Databricks Platform Comparison</dc:title>
  <dc:subject>PptxGenJS Presentation</dc:subject>
  <dc:creator>John Holland</dc:creator>
  <cp:lastModifiedBy>John Holland</cp:lastModifiedBy>
  <cp:revision>1</cp:revision>
  <dcterms:created xsi:type="dcterms:W3CDTF">2025-12-08T01:17:24Z</dcterms:created>
  <dcterms:modified xsi:type="dcterms:W3CDTF">2025-12-08T01:17:24Z</dcterms:modified>
</cp:coreProperties>
</file>