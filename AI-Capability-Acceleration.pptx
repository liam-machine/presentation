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38100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0007" y="1297037"/>
            <a:ext cx="860398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AI Capability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70007" y="2268587"/>
            <a:ext cx="86039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Proposal for John Holland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0007" y="3128963"/>
            <a:ext cx="86039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400" dirty="0"/>
          </a:p>
        </p:txBody>
      </p:sp>
      <p:pic>
        <p:nvPicPr>
          <p:cNvPr id="6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35" y="4127599"/>
            <a:ext cx="1928515" cy="634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pic>
        <p:nvPicPr>
          <p:cNvPr id="3" name="Image 1" descr="/Users/liamwynne/GIT/presentation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634901"/>
            <a:ext cx="1015901" cy="10159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239589"/>
            <a:ext cx="777240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spcAft>
                <a:spcPts val="25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IT team had an AI co-pilot?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685800" y="3141762"/>
            <a:ext cx="777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AI enablement from one success story to organisation-wide capability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401" y="381000"/>
            <a:ext cx="842030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Pillars of AI Acceleration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44401" y="1209675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/Users/liamwynne/GIT/presentation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67" y="1419225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894" y="2003375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Access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31894" y="2298650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Connectivity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59634" y="1209675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/Users/liamwynne/GIT/presentation/icons/Wre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9225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47127" y="2003375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3447127" y="2298650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Licenses &amp; Integrations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074866" y="1209675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/Users/liamwynne/GIT/presentation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633" y="1419225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2360" y="2003375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262360" y="2298650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 Network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44401" y="2851100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/Users/liamwynne/GIT/presentation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167" y="306065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1894" y="3644801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Access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31894" y="3940076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AI Studio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259634" y="2851100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5" descr="/Users/liamwynne/GIT/presentation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06065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47127" y="3644801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3447127" y="3940076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Partnership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074866" y="2851100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6" descr="/Users/liamwynne/GIT/presentation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633" y="306065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62360" y="3644801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6262360" y="3940076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6-Monthly Reviews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AI to Our Ecosystem</a:t>
            </a:r>
            <a:endParaRPr lang="en-US" sz="4200" dirty="0"/>
          </a:p>
        </p:txBody>
      </p:sp>
      <p:pic>
        <p:nvPicPr>
          <p:cNvPr id="5" name="Image 1" descr="/Users/liamwynne/GIT/presentation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01" y="534888"/>
            <a:ext cx="406301" cy="406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6801" y="1771650"/>
            <a:ext cx="82648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 Server Access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6801" y="2263676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Users/liamwynne/GIT/presentation/.claude/skills/pptx-john-holland/assets/sql dbm 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26" y="2441525"/>
            <a:ext cx="374005" cy="3808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3231" y="2425601"/>
            <a:ext cx="31485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DBM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323231" y="2685901"/>
            <a:ext cx="31485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queries and automation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724400" y="2263676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3" descr="/Users/liamwynne/GIT/presentation/.claude/skills/pptx-john-holland/assets/GitHub 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2441525"/>
            <a:ext cx="677317" cy="3808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54142" y="2425601"/>
            <a:ext cx="2839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754142" y="2685901"/>
            <a:ext cx="28392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 integration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96801" y="3152626"/>
            <a:ext cx="3975199" cy="888950"/>
          </a:xfrm>
          <a:prstGeom prst="roundRect">
            <a:avLst>
              <a:gd name="adj" fmla="val 8572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4" descr="/Users/liamwynne/GIT/presentation/.claude/skills/pptx-john-holland/assets/dbt 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26" y="3406676"/>
            <a:ext cx="993874" cy="38085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43100" y="3390751"/>
            <a:ext cx="25163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943100" y="3651052"/>
            <a:ext cx="2516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orchestration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724400" y="3152626"/>
            <a:ext cx="3975199" cy="888950"/>
          </a:xfrm>
          <a:prstGeom prst="roundRect">
            <a:avLst>
              <a:gd name="adj" fmla="val 8572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5" descr="/Users/liamwynne/GIT/presentation/.claude/skills/pptx-john-holland/assets/Atlassian 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25" y="3534073"/>
            <a:ext cx="1015901" cy="12605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92726" y="3314551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6092726" y="3574852"/>
            <a:ext cx="24938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project management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96801" y="4193977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6" descr="/Users/liamwynne/GIT/presentation/.claude/skills/pptx-john-holland/assets/ServiceNow 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726" y="4371826"/>
            <a:ext cx="605582" cy="3808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54807" y="4355902"/>
            <a:ext cx="2912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1554807" y="4616202"/>
            <a:ext cx="2912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 workflow automation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4724400" y="4193977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7" descr="/Users/liamwynne/GIT/presentation/.claude/skills/pptx-john-holland/assets/Databricks 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4371826"/>
            <a:ext cx="725686" cy="380851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802511" y="4355902"/>
            <a:ext cx="27898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5802511" y="4616202"/>
            <a:ext cx="27898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ML platform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Equipping the AI Enablers</a:t>
            </a:r>
            <a:endParaRPr lang="en-US" sz="4200" dirty="0"/>
          </a:p>
        </p:txBody>
      </p:sp>
      <p:pic>
        <p:nvPicPr>
          <p:cNvPr id="5" name="Image 1" descr="/Users/liamwynne/GIT/presentation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01" y="534888"/>
            <a:ext cx="406301" cy="406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6801" y="1254026"/>
            <a:ext cx="3924449" cy="2596158"/>
          </a:xfrm>
          <a:prstGeom prst="roundRect">
            <a:avLst>
              <a:gd name="adj" fmla="val 3913"/>
            </a:avLst>
          </a:prstGeom>
          <a:solidFill>
            <a:srgbClr val="F8F8F8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/Users/liamwynne/GIT/presentation/icons/Message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51" y="1501676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28601" y="1596926"/>
            <a:ext cx="18403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Licenses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44451" y="2149376"/>
            <a:ext cx="3429149" cy="132620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Professional-tier access for designated AI enablers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context windows for complex tasks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access during peak usage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775150" y="1254026"/>
            <a:ext cx="3924449" cy="2596158"/>
          </a:xfrm>
          <a:prstGeom prst="roundRect">
            <a:avLst>
              <a:gd name="adj" fmla="val 3913"/>
            </a:avLst>
          </a:prstGeom>
          <a:solidFill>
            <a:srgbClr val="F8F8F8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Users/liamwynne/GIT/presentation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800" y="1501676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06951" y="1596926"/>
            <a:ext cx="16448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022800" y="2149376"/>
            <a:ext cx="3429149" cy="89728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Code-completion and generation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documentation assistance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programming with AI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96801" y="4113609"/>
            <a:ext cx="8102798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96801" y="4275534"/>
            <a:ext cx="82648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allocation: Pilot licenses for AI enablers across IT teams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64526" y="381000"/>
            <a:ext cx="56148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Code Review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445368" y="1088975"/>
            <a:ext cx="42532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enable Claude App in GitHub organisation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75767" y="1552426"/>
            <a:ext cx="6392466" cy="1666577"/>
          </a:xfrm>
          <a:prstGeom prst="roundRect">
            <a:avLst>
              <a:gd name="adj" fmla="val 60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48718" y="1849189"/>
            <a:ext cx="1498550" cy="1073051"/>
          </a:xfrm>
          <a:prstGeom prst="roundRect">
            <a:avLst>
              <a:gd name="adj" fmla="val 7101"/>
            </a:avLst>
          </a:prstGeom>
          <a:solidFill>
            <a:srgbClr val="F8F8F8"/>
          </a:solidFill>
          <a:ln w="19050">
            <a:solidFill>
              <a:srgbClr val="EB1E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/Users/liamwynne/GIT/presentation/icons/GitPullRequ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68" y="2058739"/>
            <a:ext cx="406301" cy="406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47473" y="2541240"/>
            <a:ext cx="1101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99668" y="2180927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807768" y="1849189"/>
            <a:ext cx="1498550" cy="1073051"/>
          </a:xfrm>
          <a:prstGeom prst="roundRect">
            <a:avLst>
              <a:gd name="adj" fmla="val 7101"/>
            </a:avLst>
          </a:prstGeom>
          <a:solidFill>
            <a:srgbClr val="F8F8F8"/>
          </a:solidFill>
          <a:ln w="19050">
            <a:solidFill>
              <a:srgbClr val="EB1E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/Users/liamwynne/GIT/presentation/icons/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818" y="2058739"/>
            <a:ext cx="406301" cy="4063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06523" y="2541240"/>
            <a:ext cx="1101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Review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58718" y="2180927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5966817" y="1849189"/>
            <a:ext cx="1528465" cy="1073051"/>
          </a:xfrm>
          <a:prstGeom prst="roundRect">
            <a:avLst>
              <a:gd name="adj" fmla="val 7101"/>
            </a:avLst>
          </a:prstGeom>
          <a:solidFill>
            <a:srgbClr val="F8F8F8"/>
          </a:solidFill>
          <a:ln w="19050">
            <a:solidFill>
              <a:srgbClr val="EB1E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3" descr="/Users/liamwynne/GIT/presentation/icons/Circle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99" y="2058739"/>
            <a:ext cx="406301" cy="4063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65274" y="2541240"/>
            <a:ext cx="1131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Code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061990" y="3409504"/>
            <a:ext cx="30802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3061990" y="3774579"/>
            <a:ext cx="3019871" cy="91440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 reviews and suggestions</a:t>
            </a:r>
            <a:endParaRPr lang="en-US" sz="1200" dirty="0"/>
          </a:p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vulnerability detection</a:t>
            </a:r>
            <a:endParaRPr lang="en-US" sz="1200" dirty="0"/>
          </a:p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generation from code</a:t>
            </a:r>
            <a:endParaRPr lang="en-US" sz="1200" dirty="0"/>
          </a:p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code quality enforcement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401" y="381000"/>
            <a:ext cx="8420302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Community of Practice</a:t>
            </a:r>
            <a:endParaRPr lang="en-US" sz="4000" dirty="0"/>
          </a:p>
        </p:txBody>
      </p:sp>
      <p:pic>
        <p:nvPicPr>
          <p:cNvPr id="4" name="Image 1" descr="/Users/liamwynne/GIT/presentation/icons/Users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512862"/>
            <a:ext cx="406301" cy="4063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401" y="2327225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EB1E32"/>
          </a:solidFill>
          <a:ln/>
          <a:effectLst>
            <a:outerShdw sx="100000" sy="100000" kx="0" ky="0" algn="bl" rotWithShape="0" blurRad="114300" dist="38100" dir="5400000">
              <a:srgbClr val="eb1e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898072" y="3070175"/>
            <a:ext cx="997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Roundtable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603302" y="2409974"/>
            <a:ext cx="858441" cy="596801"/>
          </a:xfrm>
          <a:prstGeom prst="roundRect">
            <a:avLst>
              <a:gd name="adj" fmla="val 12768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743638" y="2555974"/>
            <a:ext cx="5777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Team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88693" y="2409974"/>
            <a:ext cx="1199852" cy="596801"/>
          </a:xfrm>
          <a:prstGeom prst="roundRect">
            <a:avLst>
              <a:gd name="adj" fmla="val 12768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725614" y="2555974"/>
            <a:ext cx="926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603302" y="3133725"/>
            <a:ext cx="858441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743638" y="3279725"/>
            <a:ext cx="5777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88693" y="3133725"/>
            <a:ext cx="1199852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725614" y="3279725"/>
            <a:ext cx="926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3302" y="3705076"/>
            <a:ext cx="858441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743638" y="3851077"/>
            <a:ext cx="5777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88693" y="3705076"/>
            <a:ext cx="1199852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725614" y="3851077"/>
            <a:ext cx="926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42446" y="2368451"/>
            <a:ext cx="3657154" cy="1822400"/>
          </a:xfrm>
          <a:prstGeom prst="roundRect">
            <a:avLst>
              <a:gd name="adj" fmla="val 5575"/>
            </a:avLst>
          </a:prstGeom>
          <a:solidFill>
            <a:srgbClr val="F8F8F8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251996" y="2578001"/>
            <a:ext cx="33028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Proposal: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251996" y="2914501"/>
            <a:ext cx="3238054" cy="9906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Frequency: Fortnightly meetings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30-60 minute sessions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Share implementations, brainstorm solutions, establish best practices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enabler per IT team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89558" y="1292275"/>
            <a:ext cx="2328565" cy="2558802"/>
          </a:xfrm>
          <a:prstGeom prst="roundRect">
            <a:avLst>
              <a:gd name="adj" fmla="val 6545"/>
            </a:avLst>
          </a:prstGeom>
          <a:solidFill>
            <a:srgbClr val="55328C"/>
          </a:solidFill>
          <a:ln/>
          <a:effectLst>
            <a:outerShdw sx="100000" sy="100000" kx="0" ky="0" algn="bl" rotWithShape="0" blurRad="152400" dist="38100" dir="5400000">
              <a:srgbClr val="55328c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/Users/liamwynne/GIT/presentation/icons/Spark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291" y="1736675"/>
            <a:ext cx="888950" cy="888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9561" y="2816126"/>
            <a:ext cx="146855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2000" dirty="0"/>
          </a:p>
          <a:p>
            <a:pPr algn="ctr" indent="0" marL="0">
              <a:spcBef>
                <a:spcPts val="15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Studio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028331" y="495151"/>
            <a:ext cx="4764694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ServiceNow AI Studio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4028331" y="2428726"/>
            <a:ext cx="47646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028331" y="2819251"/>
            <a:ext cx="4671268" cy="116234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agents for ITSM automation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intelligence for incident management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case creation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 with AI assistance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028331" y="4172099"/>
            <a:ext cx="4671268" cy="476250"/>
          </a:xfrm>
          <a:prstGeom prst="roundRect">
            <a:avLst>
              <a:gd name="adj" fmla="val 1600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052143" y="4172099"/>
            <a:ext cx="0" cy="476250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28356" y="4324499"/>
            <a:ext cx="4405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 Grant AI Studio access to designated AI enablers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44401"/>
            <a:ext cx="8290661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as Enabler, Not Blocker</a:t>
            </a:r>
            <a:endParaRPr lang="en-US" sz="4400" dirty="0"/>
          </a:p>
        </p:txBody>
      </p:sp>
      <p:pic>
        <p:nvPicPr>
          <p:cNvPr id="4" name="Image 1" descr="/Users/liamwynne/GIT/presentation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585341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1847701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fast, govern wisely</a:t>
            </a:r>
            <a:endParaRPr lang="en-US" sz="1600" dirty="0"/>
          </a:p>
        </p:txBody>
      </p:sp>
      <p:pic>
        <p:nvPicPr>
          <p:cNvPr id="6" name="Image 2" descr="/Users/liamwynne/GIT/presentation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07" y="2866132"/>
            <a:ext cx="634901" cy="63490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9713" y="3627983"/>
            <a:ext cx="840239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request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1433215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9" name="Image 3" descr="/Users/liamwynne/GIT/presentation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772" y="2956917"/>
            <a:ext cx="634901" cy="6349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82177" y="3718768"/>
            <a:ext cx="84023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815679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12" name="Image 4" descr="/Users/liamwynne/GIT/presentation/icons/Shield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236" y="2775347"/>
            <a:ext cx="634901" cy="63490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264642" y="3537198"/>
            <a:ext cx="840239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focused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4198144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15" name="Image 5" descr="/Users/liamwynne/GIT/presentation/icons/FlaskConic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7246" y="2956917"/>
            <a:ext cx="634901" cy="63490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44557" y="3718768"/>
            <a:ext cx="110028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experimentation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5835551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18" name="Image 6" descr="/Users/liamwynne/GIT/presentation/icons/Trending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6965" y="2956917"/>
            <a:ext cx="634901" cy="63490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283517" y="3718768"/>
            <a:ext cx="94179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7317581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21" name="Image 7" descr="/Users/liamwynne/GIT/presentation/icons/Build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8039" y="2866132"/>
            <a:ext cx="634901" cy="63490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766167" y="3627983"/>
            <a:ext cx="878646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for prod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Strategic Alignment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96801" y="1909762"/>
            <a:ext cx="2158901" cy="2158901"/>
          </a:xfrm>
          <a:prstGeom prst="roundRect">
            <a:avLst>
              <a:gd name="adj" fmla="val 42355"/>
            </a:avLst>
          </a:prstGeom>
          <a:solidFill>
            <a:srgbClr val="55328C"/>
          </a:solidFill>
          <a:ln/>
          <a:effectLst>
            <a:outerShdw sx="100000" sy="100000" kx="0" ky="0" algn="bl" rotWithShape="0" blurRad="152400" dist="38100" dir="5400000">
              <a:srgbClr val="55328c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Users/liamwynne/GIT/presentation/icons/Refresh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501" y="2414588"/>
            <a:ext cx="571500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3777" y="3087588"/>
            <a:ext cx="13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Cycle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73152" y="1762274"/>
            <a:ext cx="57389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Components: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073152" y="2152799"/>
            <a:ext cx="5626447" cy="139645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Enablers roundtable input session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capabilities assessment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capabilities review (evolving)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and roadmap adjustment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and ROI review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073152" y="3739753"/>
            <a:ext cx="5626447" cy="476250"/>
          </a:xfrm>
          <a:prstGeom prst="roundRect">
            <a:avLst>
              <a:gd name="adj" fmla="val 16000"/>
            </a:avLst>
          </a:prstGeom>
          <a:solidFill>
            <a:srgbClr val="FFF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3096964" y="3739753"/>
            <a:ext cx="0" cy="476250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73177" y="3892153"/>
            <a:ext cx="53795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current and target capabilities will constantly evolve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Investment</a:t>
            </a:r>
            <a:endParaRPr lang="en-US" sz="4000" dirty="0"/>
          </a:p>
        </p:txBody>
      </p:sp>
      <p:pic>
        <p:nvPicPr>
          <p:cNvPr id="5" name="Image 1" descr="/Users/liamwynne/GIT/presentation/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01" y="512862"/>
            <a:ext cx="406301" cy="406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6801" y="3730526"/>
            <a:ext cx="8102798" cy="647700"/>
          </a:xfrm>
          <a:prstGeom prst="roundRect">
            <a:avLst>
              <a:gd name="adj" fmla="val 11765"/>
            </a:avLst>
          </a:prstGeom>
          <a:solidFill>
            <a:srgbClr val="FFF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20613" y="3730526"/>
            <a:ext cx="0" cy="647700"/>
          </a:xfrm>
          <a:prstGeom prst="line">
            <a:avLst/>
          </a:prstGeom>
          <a:noFill/>
          <a:ln w="47625">
            <a:solidFill>
              <a:srgbClr val="55328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6826" y="3882926"/>
            <a:ext cx="7905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data engineering automation saved significant hours. Scaling across IT could multiply this benefit organisation-wide.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6801" y="1215926"/>
          <a:ext cx="7404050" cy="2324100"/>
        </p:xfrm>
        <a:graphic>
          <a:graphicData uri="http://schemas.openxmlformats.org/drawingml/2006/table">
            <a:tbl>
              <a:tblPr/>
              <a:tblGrid>
                <a:gridCol w="2468017"/>
                <a:gridCol w="2468017"/>
                <a:gridCol w="246801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Est. Cost/Impact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E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Licenses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Claude Pro, GitHub Copilot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Per-seat licensing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Platform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ServiceNow AI Studio access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Included in existing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Network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MCP server whitelisting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IT effort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People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Enablers time allocation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2-4 hrs/fortnight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Governance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 sessions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4-6 hrs/6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Users/liamwynne/GIT/presentation/icons/Shield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76238"/>
            <a:ext cx="406301" cy="4063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6651" y="317450"/>
            <a:ext cx="424977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Controls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33400" y="841325"/>
            <a:ext cx="4019550" cy="412552"/>
          </a:xfrm>
          <a:prstGeom prst="roundRect">
            <a:avLst>
              <a:gd name="adj" fmla="val 12314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96735" y="942826"/>
            <a:ext cx="38928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33400" y="1355378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79400" y="1501378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exposure via AI tools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3400" y="1952030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79400" y="2098030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AI adoption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33400" y="2548682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79400" y="2694682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3400" y="3145334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79400" y="3291334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 experimentation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3400" y="3741986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79400" y="3887986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drift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43450" y="841325"/>
            <a:ext cx="4019550" cy="412552"/>
          </a:xfrm>
          <a:prstGeom prst="roundRect">
            <a:avLst>
              <a:gd name="adj" fmla="val 12314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806785" y="942826"/>
            <a:ext cx="38928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743450" y="1355378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89450" y="1501378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access controls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89450" y="1704529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data egress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43450" y="2116931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89450" y="2262932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enabler program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89450" y="2466082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sanctioned path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743450" y="2878485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889450" y="3024485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of practice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89450" y="3227636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capability organically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43450" y="3640038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889450" y="3786039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review gate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89450" y="3989189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production deployment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743450" y="4401592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889450" y="4547592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6-monthly review cycle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89450" y="4750743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executive input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401" y="317450"/>
            <a:ext cx="842030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Action Plan</a:t>
            </a:r>
            <a:endParaRPr lang="en-US" sz="3600" dirty="0"/>
          </a:p>
        </p:txBody>
      </p:sp>
      <p:pic>
        <p:nvPicPr>
          <p:cNvPr id="4" name="Image 1" descr="/Users/liamwynne/GIT/presentation/icons/ListChe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440085"/>
            <a:ext cx="355550" cy="3555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401" y="103182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468213" y="103182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8976" y="1311176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74378" y="1354038"/>
            <a:ext cx="2173995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AI Enabler program structure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22750" y="103182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4646563" y="103182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97326" y="1311176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52727" y="1354038"/>
            <a:ext cx="243327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initial Claude and Copilot licenses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44401" y="1930152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68213" y="1930152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8976" y="2209502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74378" y="2252365"/>
            <a:ext cx="306372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network whitelisting requests for MCP servers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22750" y="1930152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4646563" y="1930152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97326" y="2209502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152727" y="2252365"/>
            <a:ext cx="242644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Claude App in GitHub organisation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44401" y="2828479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468213" y="2828479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8976" y="3107829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974378" y="3150691"/>
            <a:ext cx="272109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ServiceNow AI Studio access to enablers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622750" y="2828479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4646563" y="2828479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97326" y="3107829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5152727" y="3150691"/>
            <a:ext cx="206560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security fast-track process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44401" y="372680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468213" y="372680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8976" y="4006155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974378" y="4049018"/>
            <a:ext cx="213103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first AI Enablers roundtable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622750" y="372680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4646563" y="372680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97326" y="4006155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5152727" y="4049018"/>
            <a:ext cx="242568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date for first 6-monthly strategy review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pic>
        <p:nvPicPr>
          <p:cNvPr id="3" name="Image 1" descr="/Users/liamwynne/GIT/presentation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365599"/>
            <a:ext cx="1269950" cy="1269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845939"/>
            <a:ext cx="777240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spcAft>
                <a:spcPts val="18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proven AI works for John Holland.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3936950" y="2659261"/>
            <a:ext cx="1269950" cy="762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85800" y="2989362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600" b="1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us the runway to scale it.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85800" y="3868787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Accelerating AI Capability</dc:title>
  <dc:subject>AI Enablement Proposal</dc:subject>
  <dc:creator>John Holland IT</dc:creator>
  <cp:lastModifiedBy>John Holland IT</cp:lastModifiedBy>
  <cp:revision>1</cp:revision>
  <dcterms:created xsi:type="dcterms:W3CDTF">2025-12-04T21:34:37Z</dcterms:created>
  <dcterms:modified xsi:type="dcterms:W3CDTF">2025-12-04T21:34:37Z</dcterms:modified>
</cp:coreProperties>
</file>