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jp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B1E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34200" y="253901"/>
            <a:ext cx="1828800" cy="806500"/>
          </a:xfrm>
          <a:prstGeom prst="roundRect">
            <a:avLst>
              <a:gd name="adj" fmla="val 125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6941" dir="270000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Users/liamwynne/GIT/presentation/.claude/skills/pptx-john-holland/assets/John Holland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406301"/>
            <a:ext cx="1524000" cy="5017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015901"/>
            <a:ext cx="7772400" cy="146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60"/>
              </a:lnSpc>
              <a:spcAft>
                <a:spcPts val="2000"/>
              </a:spcAft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AI-Augmented Data Engineering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762000" y="2732782"/>
            <a:ext cx="77724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spcAft>
                <a:spcPts val="1500"/>
              </a:spcAft>
              <a:buNone/>
            </a:pPr>
            <a:r>
              <a:rPr lang="en-US" sz="2400" dirty="0">
                <a:solidFill>
                  <a:srgbClr val="B4D2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Proof of Concept Proposal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762000" y="3275707"/>
            <a:ext cx="77724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89D0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Leveraging Anthropic Claude &amp; MCP Servers to Transform Data Team Productivity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62000" y="4375249"/>
            <a:ext cx="324831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B4D2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Analytics Team | December 2025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752"/>
          </a:xfrm>
          <a:prstGeom prst="rect">
            <a:avLst/>
          </a:prstGeom>
          <a:solidFill>
            <a:srgbClr val="EB1E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Users/liamwynne/GIT/presentation/preso3/toolbox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950" y="253901"/>
            <a:ext cx="507950" cy="5079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6401" y="274439"/>
            <a:ext cx="409189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Are Today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07950" y="1561802"/>
            <a:ext cx="8290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EB1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AI Toolkit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07950" y="1955453"/>
            <a:ext cx="8128099" cy="599480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algn="l" marL="158750" indent="-158750">
              <a:lnSpc>
                <a:spcPts val="1960"/>
              </a:lnSpc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lnSpc>
                <a:spcPts val="196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GitHub Copilot access across the organization</a:t>
            </a:r>
            <a:endParaRPr lang="en-US" sz="1400" dirty="0"/>
          </a:p>
          <a:p>
            <a:pPr algn="l" marL="158750" indent="-158750">
              <a:lnSpc>
                <a:spcPts val="196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Useful for code completion and simple suggestions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07950" y="2808833"/>
            <a:ext cx="8290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EB1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We're Experiencing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07950" y="3202484"/>
            <a:ext cx="8128099" cy="1300460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algn="l" marL="158750" indent="-158750">
              <a:lnSpc>
                <a:spcPts val="1960"/>
              </a:lnSpc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pPr algn="l" indent="0" marL="0">
              <a:lnSpc>
                <a:spcPts val="196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Context window truncation in complex projects</a:t>
            </a:r>
            <a:endParaRPr lang="en-US" sz="1400" dirty="0"/>
          </a:p>
          <a:p>
            <a:pPr algn="l" marL="158750" indent="-158750">
              <a:lnSpc>
                <a:spcPts val="1960"/>
              </a:lnSpc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pPr algn="l" indent="0" marL="0">
              <a:lnSpc>
                <a:spcPts val="196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Limited to IDE-based interactions</a:t>
            </a:r>
            <a:endParaRPr lang="en-US" sz="1400" dirty="0"/>
          </a:p>
          <a:p>
            <a:pPr algn="l" marL="158750" indent="-158750">
              <a:lnSpc>
                <a:spcPts val="1960"/>
              </a:lnSpc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pPr algn="l" indent="0" marL="0">
              <a:lnSpc>
                <a:spcPts val="196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Generic solutions that don't understand our tech stack</a:t>
            </a:r>
            <a:endParaRPr lang="en-US" sz="1400" dirty="0"/>
          </a:p>
          <a:p>
            <a:pPr algn="l" marL="158750" indent="-158750">
              <a:lnSpc>
                <a:spcPts val="1960"/>
              </a:lnSpc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pPr algn="l" indent="0" marL="0">
              <a:lnSpc>
                <a:spcPts val="196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integration with our workflow tools (Jira, DBT, Databricks, etc.)</a:t>
            </a:r>
            <a:endParaRPr lang="en-US" sz="1400" dirty="0"/>
          </a:p>
        </p:txBody>
      </p:sp>
      <p:pic>
        <p:nvPicPr>
          <p:cNvPr id="9" name="Image 1" descr="/Users/liamwynne/GIT/presentation/.claude/skills/pptx-john-holland/assets/John Holland 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901" y="4618583"/>
            <a:ext cx="1015901" cy="33441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441252"/>
          </a:xfrm>
          <a:prstGeom prst="rect">
            <a:avLst/>
          </a:prstGeom>
          <a:solidFill>
            <a:srgbClr val="5532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Users/liamwynne/GIT/presentation/preso3/lightbulb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950" y="466576"/>
            <a:ext cx="507950" cy="5079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6401" y="253901"/>
            <a:ext cx="7578242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Code Completion: The Next Evolution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07950" y="1987302"/>
            <a:ext cx="8290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500"/>
              </a:spcAft>
              <a:buNone/>
            </a:pPr>
            <a:r>
              <a:rPr lang="en-US" sz="1800" b="1" dirty="0">
                <a:solidFill>
                  <a:srgbClr val="5532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if our data engineers could: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07950" y="2444502"/>
            <a:ext cx="8128099" cy="1371451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algn="l" marL="158750" indent="-158750">
              <a:lnSpc>
                <a:spcPts val="195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entire data models from Jira ticket descriptions</a:t>
            </a:r>
            <a:endParaRPr lang="en-US" sz="1500" dirty="0"/>
          </a:p>
          <a:p>
            <a:pPr algn="l" marL="158750" indent="-158750">
              <a:lnSpc>
                <a:spcPts val="195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 complex DBT models with full repository context</a:t>
            </a:r>
            <a:endParaRPr lang="en-US" sz="1500" dirty="0"/>
          </a:p>
          <a:p>
            <a:pPr algn="l" marL="158750" indent="-158750">
              <a:lnSpc>
                <a:spcPts val="195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Power BI reports from natural language requirements</a:t>
            </a:r>
            <a:endParaRPr lang="en-US" sz="1500" dirty="0"/>
          </a:p>
          <a:p>
            <a:pPr algn="l" marL="158750" indent="-158750">
              <a:lnSpc>
                <a:spcPts val="195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branded presentations automatically (like this one!)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26669" y="4069854"/>
            <a:ext cx="829066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EB1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while maintaining human oversight and control</a:t>
            </a:r>
            <a:endParaRPr lang="en-US" sz="1600" dirty="0"/>
          </a:p>
        </p:txBody>
      </p:sp>
      <p:pic>
        <p:nvPicPr>
          <p:cNvPr id="8" name="Image 1" descr="/Users/liamwynne/GIT/presentation/.claude/skills/pptx-john-holland/assets/John Holland 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901" y="4618583"/>
            <a:ext cx="1015901" cy="33441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752"/>
          </a:xfrm>
          <a:prstGeom prst="rect">
            <a:avLst/>
          </a:prstGeom>
          <a:solidFill>
            <a:srgbClr val="EB1E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Users/liamwynne/GIT/presentation/preso3/brain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950" y="253901"/>
            <a:ext cx="507950" cy="5079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6401" y="293489"/>
            <a:ext cx="438988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Anthropic Claude?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07950" y="1650653"/>
            <a:ext cx="3951021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spcAft>
                <a:spcPts val="1500"/>
              </a:spcAft>
              <a:buNone/>
            </a:pPr>
            <a:r>
              <a:rPr lang="en-US" sz="2000" dirty="0">
                <a:solidFill>
                  <a:srgbClr val="EB1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spcBef>
                <a:spcPts val="2000"/>
              </a:spcBef>
              <a:spcAft>
                <a:spcPts val="1500"/>
              </a:spcAft>
              <a:buNone/>
            </a:pPr>
            <a:r>
              <a:rPr lang="en-US" sz="2000" b="1" dirty="0">
                <a:solidFill>
                  <a:srgbClr val="EB1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Superior Context Management</a:t>
            </a:r>
            <a:endParaRPr lang="en-US" sz="2000" dirty="0"/>
          </a:p>
        </p:txBody>
      </p:sp>
      <p:pic>
        <p:nvPicPr>
          <p:cNvPr id="6" name="Image 1" descr="/Users/liamwynne/GIT/presentation/preso3/target-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1723727"/>
            <a:ext cx="444401" cy="44440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7950" y="2431703"/>
            <a:ext cx="3873550" cy="1498848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96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context window utilization (no truncation)</a:t>
            </a:r>
            <a:endParaRPr lang="en-US" sz="1400" dirty="0"/>
          </a:p>
          <a:p>
            <a:pPr algn="l" marL="127000" indent="-127000">
              <a:lnSpc>
                <a:spcPts val="196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 conversation state across complex tasks</a:t>
            </a:r>
            <a:endParaRPr lang="en-US" sz="1400" dirty="0"/>
          </a:p>
          <a:p>
            <a:pPr algn="l" marL="127000" indent="-127000">
              <a:lnSpc>
                <a:spcPts val="196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entire codebases and documentation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4762500" y="1650653"/>
            <a:ext cx="3951021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spcAft>
                <a:spcPts val="1500"/>
              </a:spcAft>
              <a:buNone/>
            </a:pPr>
            <a:r>
              <a:rPr lang="en-US" sz="2000" dirty="0">
                <a:solidFill>
                  <a:srgbClr val="EB1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spcBef>
                <a:spcPts val="2000"/>
              </a:spcBef>
              <a:spcAft>
                <a:spcPts val="1500"/>
              </a:spcAft>
              <a:buNone/>
            </a:pPr>
            <a:r>
              <a:rPr lang="en-US" sz="2000" b="1" dirty="0">
                <a:solidFill>
                  <a:srgbClr val="EB1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Agent Capabilities</a:t>
            </a:r>
            <a:endParaRPr lang="en-US" sz="2000" dirty="0"/>
          </a:p>
        </p:txBody>
      </p:sp>
      <p:pic>
        <p:nvPicPr>
          <p:cNvPr id="9" name="Image 2" descr="/Users/liamwynne/GIT/presentation/preso3/robot-ic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723727"/>
            <a:ext cx="444401" cy="44440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762500" y="2431703"/>
            <a:ext cx="3873550" cy="1625798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96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Agents for autonomous task execution</a:t>
            </a:r>
            <a:endParaRPr lang="en-US" sz="1400" dirty="0"/>
          </a:p>
          <a:p>
            <a:pPr algn="l" marL="127000" indent="-127000">
              <a:lnSpc>
                <a:spcPts val="196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for specialized functions</a:t>
            </a:r>
            <a:endParaRPr lang="en-US" sz="1400" dirty="0"/>
          </a:p>
          <a:p>
            <a:pPr algn="l" marL="127000" indent="-127000">
              <a:lnSpc>
                <a:spcPts val="196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use and function calling</a:t>
            </a:r>
            <a:endParaRPr lang="en-US" sz="1400" dirty="0"/>
          </a:p>
          <a:p>
            <a:pPr algn="l" marL="127000" indent="-127000">
              <a:lnSpc>
                <a:spcPts val="196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Multi-step reasoning with human checkpoints</a:t>
            </a:r>
            <a:endParaRPr lang="en-US" sz="1400" dirty="0"/>
          </a:p>
        </p:txBody>
      </p:sp>
      <p:pic>
        <p:nvPicPr>
          <p:cNvPr id="11" name="Image 3" descr="/Users/liamwynne/GIT/presentation/.claude/skills/pptx-john-holland/assets/John Holland 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901" y="4618583"/>
            <a:ext cx="1015901" cy="33441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365052"/>
          </a:xfrm>
          <a:prstGeom prst="rect">
            <a:avLst/>
          </a:prstGeom>
          <a:solidFill>
            <a:srgbClr val="5532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Context Protocol: Connecting AI to Our Stack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7950" y="1746052"/>
            <a:ext cx="31089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1500"/>
              </a:spcBef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5532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MCP?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7950" y="2165152"/>
            <a:ext cx="3108960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standardized protocol that allows AI to securely interact with tools and data sources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7950" y="2782193"/>
            <a:ext cx="31089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1500"/>
              </a:spcBef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5532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Proposed MCP Servers: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7950" y="3201293"/>
            <a:ext cx="3108960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server provides secure, context-aware access to our tools and data platforms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11551" y="1555552"/>
            <a:ext cx="1866900" cy="812602"/>
          </a:xfrm>
          <a:prstGeom prst="roundRect">
            <a:avLst>
              <a:gd name="adj" fmla="val 9377"/>
            </a:avLst>
          </a:prstGeom>
          <a:solidFill>
            <a:srgbClr val="F8F9FA"/>
          </a:solidFill>
          <a:ln w="19050">
            <a:solidFill>
              <a:srgbClr val="5532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0" descr="/Users/liamwynne/GIT/presentation/.claude/skills/pptx-john-holland/assets/GitHub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6755" y="1699022"/>
            <a:ext cx="496491" cy="27935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07580" y="2029123"/>
            <a:ext cx="474693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330851" y="1555552"/>
            <a:ext cx="1866900" cy="812602"/>
          </a:xfrm>
          <a:prstGeom prst="roundRect">
            <a:avLst>
              <a:gd name="adj" fmla="val 9377"/>
            </a:avLst>
          </a:prstGeom>
          <a:solidFill>
            <a:srgbClr val="F8F9FA"/>
          </a:solidFill>
          <a:ln w="19050">
            <a:solidFill>
              <a:srgbClr val="5532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2" name="Image 1" descr="/Users/liamwynne/GIT/presentation/.claude/skills/pptx-john-holland/assets/Atlassian 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9904" y="1699022"/>
            <a:ext cx="2248793" cy="2793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753631" y="2029123"/>
            <a:ext cx="1021190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Atlassian (Jira)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311551" y="2520553"/>
            <a:ext cx="1866900" cy="812602"/>
          </a:xfrm>
          <a:prstGeom prst="roundRect">
            <a:avLst>
              <a:gd name="adj" fmla="val 9377"/>
            </a:avLst>
          </a:prstGeom>
          <a:solidFill>
            <a:srgbClr val="F8F9FA"/>
          </a:solidFill>
          <a:ln w="19050">
            <a:solidFill>
              <a:srgbClr val="5532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2" descr="/Users/liamwynne/GIT/presentation/.claude/skills/pptx-john-holland/assets/sql dbm logo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7781" y="2664023"/>
            <a:ext cx="274290" cy="27935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948223" y="2994124"/>
            <a:ext cx="593556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SQLdbm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6330851" y="2520553"/>
            <a:ext cx="1866900" cy="812602"/>
          </a:xfrm>
          <a:prstGeom prst="roundRect">
            <a:avLst>
              <a:gd name="adj" fmla="val 9377"/>
            </a:avLst>
          </a:prstGeom>
          <a:solidFill>
            <a:srgbClr val="F8F9FA"/>
          </a:solidFill>
          <a:ln w="19050">
            <a:solidFill>
              <a:srgbClr val="5532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8" name="Image 3" descr="/Users/liamwynne/GIT/presentation/.claude/skills/pptx-john-holland/assets/dbt 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9970" y="2664023"/>
            <a:ext cx="728663" cy="27935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117811" y="2994124"/>
            <a:ext cx="292831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DBT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4311551" y="3485555"/>
            <a:ext cx="1866900" cy="812602"/>
          </a:xfrm>
          <a:prstGeom prst="roundRect">
            <a:avLst>
              <a:gd name="adj" fmla="val 9377"/>
            </a:avLst>
          </a:prstGeom>
          <a:solidFill>
            <a:srgbClr val="F8F9FA"/>
          </a:solidFill>
          <a:ln w="19050">
            <a:solidFill>
              <a:srgbClr val="5532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1" name="Image 4" descr="/Users/liamwynne/GIT/presentation/.claude/skills/pptx-john-holland/assets/Databricks 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8896" y="3629025"/>
            <a:ext cx="532061" cy="27935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880821" y="3959126"/>
            <a:ext cx="728359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Databricks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6330851" y="3485555"/>
            <a:ext cx="1866900" cy="812602"/>
          </a:xfrm>
          <a:prstGeom prst="roundRect">
            <a:avLst>
              <a:gd name="adj" fmla="val 9377"/>
            </a:avLst>
          </a:prstGeom>
          <a:solidFill>
            <a:srgbClr val="F8F9FA"/>
          </a:solidFill>
          <a:ln w="19050">
            <a:solidFill>
              <a:srgbClr val="5532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4" name="Image 5" descr="/Users/liamwynne/GIT/presentation/.claude/skills/pptx-john-holland/assets/power bi log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4551" y="3629025"/>
            <a:ext cx="279350" cy="27935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959478" y="3959126"/>
            <a:ext cx="609496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</a:t>
            </a:r>
            <a:endParaRPr lang="en-US" sz="1100" dirty="0"/>
          </a:p>
        </p:txBody>
      </p:sp>
      <p:pic>
        <p:nvPicPr>
          <p:cNvPr id="26" name="Image 6" descr="/Users/liamwynne/GIT/presentation/.claude/skills/pptx-john-holland/assets/John Holland Logo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3901" y="4618583"/>
            <a:ext cx="1015901" cy="33441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326952"/>
          </a:xfrm>
          <a:prstGeom prst="rect">
            <a:avLst/>
          </a:prstGeom>
          <a:solidFill>
            <a:srgbClr val="EB1E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Users/liamwynne/GIT/presentation/preso3/code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950" y="409426"/>
            <a:ext cx="507950" cy="5079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6401" y="253901"/>
            <a:ext cx="7578242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Autonomous Data Model Development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07950" y="1784003"/>
            <a:ext cx="41974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EB1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7950" y="2174528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5532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14363" y="2226915"/>
            <a:ext cx="936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39701" y="2174528"/>
            <a:ext cx="2099459" cy="223391"/>
          </a:xfrm>
          <a:prstGeom prst="rect">
            <a:avLst/>
          </a:prstGeom>
          <a:noFill/>
          <a:ln/>
        </p:spPr>
        <p:txBody>
          <a:bodyPr wrap="square" lIns="0" tIns="2540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Jira ticket requirements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7950" y="2606278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5532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14363" y="2658666"/>
            <a:ext cx="936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39701" y="2606278"/>
            <a:ext cx="3004063" cy="223391"/>
          </a:xfrm>
          <a:prstGeom prst="rect">
            <a:avLst/>
          </a:prstGeom>
          <a:noFill/>
          <a:ln/>
        </p:spPr>
        <p:txBody>
          <a:bodyPr wrap="square" lIns="0" tIns="2540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Analyzes existing DBT models and patterns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07950" y="3038029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5532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614363" y="3090416"/>
            <a:ext cx="936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39701" y="3038029"/>
            <a:ext cx="2911766" cy="223391"/>
          </a:xfrm>
          <a:prstGeom prst="rect">
            <a:avLst/>
          </a:prstGeom>
          <a:noFill/>
          <a:ln/>
        </p:spPr>
        <p:txBody>
          <a:bodyPr wrap="square" lIns="0" tIns="2540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research plan → 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EB1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reviews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07950" y="3469779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5532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614363" y="3522166"/>
            <a:ext cx="936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939701" y="3469779"/>
            <a:ext cx="3464790" cy="223391"/>
          </a:xfrm>
          <a:prstGeom prst="rect">
            <a:avLst/>
          </a:prstGeom>
          <a:noFill/>
          <a:ln/>
        </p:spPr>
        <p:txBody>
          <a:bodyPr wrap="square" lIns="0" tIns="2540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Develops implementation plan → 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EB1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reviews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07950" y="3901529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5532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614363" y="3953917"/>
            <a:ext cx="936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939701" y="3901529"/>
            <a:ext cx="3098941" cy="223391"/>
          </a:xfrm>
          <a:prstGeom prst="rect">
            <a:avLst/>
          </a:prstGeom>
          <a:noFill/>
          <a:ln/>
        </p:spPr>
        <p:txBody>
          <a:bodyPr wrap="square" lIns="0" tIns="2540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DBT code → 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EB1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reviews PR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07950" y="4333280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5532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614363" y="4385667"/>
            <a:ext cx="936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939701" y="4333280"/>
            <a:ext cx="2670244" cy="223391"/>
          </a:xfrm>
          <a:prstGeom prst="rect">
            <a:avLst/>
          </a:prstGeom>
          <a:noFill/>
          <a:ln/>
        </p:spPr>
        <p:txBody>
          <a:bodyPr wrap="square" lIns="0" tIns="2540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Debugs failures using logs and context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876949" y="1580852"/>
            <a:ext cx="3759101" cy="3184178"/>
          </a:xfrm>
          <a:prstGeom prst="roundRect">
            <a:avLst>
              <a:gd name="adj" fmla="val 319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5105549" y="1961852"/>
            <a:ext cx="3301901" cy="704850"/>
          </a:xfrm>
          <a:prstGeom prst="roundRect">
            <a:avLst>
              <a:gd name="adj" fmla="val 10811"/>
            </a:avLst>
          </a:prstGeom>
          <a:solidFill>
            <a:srgbClr val="B4D2C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5257949" y="2114252"/>
            <a:ext cx="305704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Reduces model development time from days to hours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5105549" y="2857202"/>
            <a:ext cx="3367939" cy="853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15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handles the "grunt work" - reading documentation, writing boilerplate, checking standards. Humans control strategy at each decision point.</a:t>
            </a:r>
            <a:endParaRPr lang="en-US" sz="1200" dirty="0"/>
          </a:p>
        </p:txBody>
      </p:sp>
      <p:pic>
        <p:nvPicPr>
          <p:cNvPr id="28" name="Image 1" descr="/Users/liamwynne/GIT/presentation/.claude/skills/pptx-john-holland/assets/John Holland 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901" y="4618583"/>
            <a:ext cx="1015901" cy="33441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752"/>
          </a:xfrm>
          <a:prstGeom prst="rect">
            <a:avLst/>
          </a:prstGeom>
          <a:solidFill>
            <a:srgbClr val="5532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Users/liamwynne/GIT/presentation/preso3/chartbar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950" y="253901"/>
            <a:ext cx="507950" cy="5079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6401" y="303014"/>
            <a:ext cx="729543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Natural Language to BI Reports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07950" y="1472803"/>
            <a:ext cx="424931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5532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7950" y="1837879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EB1E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14363" y="1890266"/>
            <a:ext cx="936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39701" y="1837879"/>
            <a:ext cx="3801948" cy="223391"/>
          </a:xfrm>
          <a:prstGeom prst="rect">
            <a:avLst/>
          </a:prstGeom>
          <a:noFill/>
          <a:ln/>
        </p:spPr>
        <p:txBody>
          <a:bodyPr wrap="square" lIns="0" tIns="2540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describes report requirements in natural language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7950" y="2256979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EB1E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14363" y="2309366"/>
            <a:ext cx="936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39701" y="2256979"/>
            <a:ext cx="2955030" cy="223391"/>
          </a:xfrm>
          <a:prstGeom prst="rect">
            <a:avLst/>
          </a:prstGeom>
          <a:noFill/>
          <a:ln/>
        </p:spPr>
        <p:txBody>
          <a:bodyPr wrap="square" lIns="0" tIns="2540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queries Databricks for data structure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07950" y="2676079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EB1E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614363" y="2728466"/>
            <a:ext cx="936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39701" y="2676079"/>
            <a:ext cx="3110782" cy="223391"/>
          </a:xfrm>
          <a:prstGeom prst="rect">
            <a:avLst/>
          </a:prstGeom>
          <a:noFill/>
          <a:ln/>
        </p:spPr>
        <p:txBody>
          <a:bodyPr wrap="square" lIns="0" tIns="2540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Designs report layout based on JH standards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07950" y="3095179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EB1E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614363" y="3147566"/>
            <a:ext cx="936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939701" y="3095179"/>
            <a:ext cx="2514493" cy="223391"/>
          </a:xfrm>
          <a:prstGeom prst="rect">
            <a:avLst/>
          </a:prstGeom>
          <a:noFill/>
          <a:ln/>
        </p:spPr>
        <p:txBody>
          <a:bodyPr wrap="square" lIns="0" tIns="2540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Power BI report definition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07950" y="3514279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EB1E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614363" y="3566666"/>
            <a:ext cx="936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939701" y="3514279"/>
            <a:ext cx="2143027" cy="223391"/>
          </a:xfrm>
          <a:prstGeom prst="rect">
            <a:avLst/>
          </a:prstGeom>
          <a:noFill/>
          <a:ln/>
        </p:spPr>
        <p:txBody>
          <a:bodyPr wrap="square" lIns="0" tIns="2540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EB1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reviews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publishes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07950" y="3946029"/>
            <a:ext cx="4165997" cy="647700"/>
          </a:xfrm>
          <a:prstGeom prst="roundRect">
            <a:avLst>
              <a:gd name="adj" fmla="val 11765"/>
            </a:avLst>
          </a:prstGeom>
          <a:solidFill>
            <a:srgbClr val="B4D2C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660350" y="4098429"/>
            <a:ext cx="39384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"Create a monthly safety metrics dashboard by region with YoY comparison"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927848" y="1269653"/>
            <a:ext cx="3708202" cy="3492847"/>
          </a:xfrm>
          <a:prstGeom prst="roundRect">
            <a:avLst>
              <a:gd name="adj" fmla="val 2909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5130998" y="1625203"/>
            <a:ext cx="336793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Democratizes BI development, reduces analyst backlog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130998" y="2215753"/>
            <a:ext cx="3367939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15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doesn't replace analysts - it frees them for complex analysis. Agent understands our data model and maintains JH styling automatically.</a:t>
            </a:r>
            <a:endParaRPr lang="en-US" sz="1200" dirty="0"/>
          </a:p>
        </p:txBody>
      </p:sp>
      <p:pic>
        <p:nvPicPr>
          <p:cNvPr id="26" name="Image 1" descr="/Users/liamwynne/GIT/presentation/.claude/skills/pptx-john-holland/assets/John Holland 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901" y="4618583"/>
            <a:ext cx="1015901" cy="33441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326952"/>
          </a:xfrm>
          <a:prstGeom prst="rect">
            <a:avLst/>
          </a:prstGeom>
          <a:solidFill>
            <a:srgbClr val="EB1E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Users/liamwynne/GIT/presentation/preso3/file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950" y="409426"/>
            <a:ext cx="507950" cy="5079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6401" y="253901"/>
            <a:ext cx="7578242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This Presentation Was AI-Assisted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07950" y="1873002"/>
            <a:ext cx="8290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EB1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You're Viewing: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07950" y="2266652"/>
            <a:ext cx="8128099" cy="1511052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algn="l" marL="158750" indent="-158750">
              <a:lnSpc>
                <a:spcPts val="182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using natural language requirements</a:t>
            </a:r>
            <a:endParaRPr lang="en-US" sz="1400" dirty="0"/>
          </a:p>
          <a:p>
            <a:pPr algn="l" marL="158750" indent="-158750">
              <a:lnSpc>
                <a:spcPts val="182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 Holland color palette and branding applied automatically</a:t>
            </a:r>
            <a:endParaRPr lang="en-US" sz="1400" dirty="0"/>
          </a:p>
          <a:p>
            <a:pPr algn="l" marL="158750" indent="-158750">
              <a:lnSpc>
                <a:spcPts val="182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Speaker notes drafted by AI</a:t>
            </a:r>
            <a:endParaRPr lang="en-US" sz="1400" dirty="0"/>
          </a:p>
          <a:p>
            <a:pPr algn="l" marL="158750" indent="-158750">
              <a:lnSpc>
                <a:spcPts val="182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for executive audience</a:t>
            </a:r>
            <a:endParaRPr lang="en-US" sz="1400" dirty="0"/>
          </a:p>
          <a:p>
            <a:pPr algn="l" marL="158750" indent="-158750">
              <a:lnSpc>
                <a:spcPts val="182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reviewed and refined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07950" y="4006304"/>
            <a:ext cx="8128099" cy="644426"/>
          </a:xfrm>
          <a:prstGeom prst="roundRect">
            <a:avLst>
              <a:gd name="adj" fmla="val 15766"/>
            </a:avLst>
          </a:prstGeom>
          <a:solidFill>
            <a:srgbClr val="B4D2C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33883" y="4209455"/>
            <a:ext cx="787623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Concept to Presentation: Minutes, Not Hours</a:t>
            </a:r>
            <a:endParaRPr lang="en-US" sz="1600" dirty="0"/>
          </a:p>
        </p:txBody>
      </p:sp>
      <p:pic>
        <p:nvPicPr>
          <p:cNvPr id="9" name="Image 1" descr="/Users/liamwynne/GIT/presentation/.claude/skills/pptx-john-holland/assets/John Holland 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901" y="4618583"/>
            <a:ext cx="1015901" cy="33441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237952"/>
          </a:xfrm>
          <a:prstGeom prst="rect">
            <a:avLst/>
          </a:prstGeom>
          <a:solidFill>
            <a:srgbClr val="5532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Works: Human-in-the-Loop AI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7950" y="745927"/>
            <a:ext cx="829066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Three-Stage Review Process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1491853"/>
            <a:ext cx="2641550" cy="3270647"/>
          </a:xfrm>
          <a:prstGeom prst="roundRect">
            <a:avLst>
              <a:gd name="adj" fmla="val 384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81000" y="1515666"/>
            <a:ext cx="2641550" cy="0"/>
          </a:xfrm>
          <a:prstGeom prst="line">
            <a:avLst/>
          </a:prstGeom>
          <a:noFill/>
          <a:ln w="47625">
            <a:solidFill>
              <a:srgbClr val="EB1E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9600" y="1958578"/>
            <a:ext cx="2228037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spcAft>
                <a:spcPts val="900"/>
              </a:spcAft>
              <a:buNone/>
            </a:pPr>
            <a:r>
              <a:rPr lang="en-US" sz="1500" dirty="0">
                <a:solidFill>
                  <a:srgbClr val="EB1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spcBef>
                <a:spcPts val="1500"/>
              </a:spcBef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EB1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1: Research Plan</a:t>
            </a:r>
            <a:endParaRPr lang="en-US" sz="1500" dirty="0"/>
          </a:p>
        </p:txBody>
      </p:sp>
      <p:pic>
        <p:nvPicPr>
          <p:cNvPr id="8" name="Image 0" descr="/Users/liamwynne/GIT/presentation/preso3/database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012603"/>
            <a:ext cx="330101" cy="33010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09600" y="2536329"/>
            <a:ext cx="2228037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100"/>
              </a:spcBef>
              <a:spcAft>
                <a:spcPts val="7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analyzes repository, documentation, existing patterns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09600" y="3039070"/>
            <a:ext cx="2228037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100"/>
              </a:spcBef>
              <a:spcAft>
                <a:spcPts val="7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Produces research findings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09600" y="3334941"/>
            <a:ext cx="2184350" cy="463451"/>
          </a:xfrm>
          <a:prstGeom prst="roundRect">
            <a:avLst>
              <a:gd name="adj" fmla="val 10961"/>
            </a:avLst>
          </a:prstGeom>
          <a:solidFill>
            <a:srgbClr val="EB1E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78384" y="3423791"/>
            <a:ext cx="204678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Human reviews and approves/modifies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251150" y="1491853"/>
            <a:ext cx="2641550" cy="3270647"/>
          </a:xfrm>
          <a:prstGeom prst="roundRect">
            <a:avLst>
              <a:gd name="adj" fmla="val 384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3251150" y="1515666"/>
            <a:ext cx="2641550" cy="0"/>
          </a:xfrm>
          <a:prstGeom prst="line">
            <a:avLst/>
          </a:prstGeom>
          <a:noFill/>
          <a:ln w="47625">
            <a:solidFill>
              <a:srgbClr val="55328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79750" y="1958578"/>
            <a:ext cx="2228037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spcAft>
                <a:spcPts val="900"/>
              </a:spcAft>
              <a:buNone/>
            </a:pPr>
            <a:r>
              <a:rPr lang="en-US" sz="1500" dirty="0">
                <a:solidFill>
                  <a:srgbClr val="5532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spcBef>
                <a:spcPts val="1500"/>
              </a:spcBef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5532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2: Implementation Plan</a:t>
            </a:r>
            <a:endParaRPr lang="en-US" sz="1500" dirty="0"/>
          </a:p>
        </p:txBody>
      </p:sp>
      <p:pic>
        <p:nvPicPr>
          <p:cNvPr id="16" name="Image 1" descr="/Users/liamwynne/GIT/presentation/preso3/file-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9750" y="2122140"/>
            <a:ext cx="330101" cy="330101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479750" y="2755404"/>
            <a:ext cx="2228037" cy="544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100"/>
              </a:spcBef>
              <a:spcAft>
                <a:spcPts val="7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creates detailed implementation strategy based on ticket requirements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3479750" y="3439716"/>
            <a:ext cx="2228037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100"/>
              </a:spcBef>
              <a:spcAft>
                <a:spcPts val="7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Outlines approach, files to modify, patterns to follow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3479750" y="3917156"/>
            <a:ext cx="2184350" cy="463451"/>
          </a:xfrm>
          <a:prstGeom prst="roundRect">
            <a:avLst>
              <a:gd name="adj" fmla="val 10961"/>
            </a:avLst>
          </a:prstGeom>
          <a:solidFill>
            <a:srgbClr val="EB1E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3548534" y="4006007"/>
            <a:ext cx="204678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Human reviews and approves/modifies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121301" y="1491853"/>
            <a:ext cx="2641550" cy="3270647"/>
          </a:xfrm>
          <a:prstGeom prst="roundRect">
            <a:avLst>
              <a:gd name="adj" fmla="val 384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18"/>
          <p:cNvSpPr/>
          <p:nvPr/>
        </p:nvSpPr>
        <p:spPr>
          <a:xfrm>
            <a:off x="6121301" y="1515666"/>
            <a:ext cx="2641550" cy="0"/>
          </a:xfrm>
          <a:prstGeom prst="line">
            <a:avLst/>
          </a:prstGeom>
          <a:noFill/>
          <a:ln w="47625">
            <a:solidFill>
              <a:srgbClr val="B4D2C3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349901" y="1958578"/>
            <a:ext cx="2228037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spcAft>
                <a:spcPts val="900"/>
              </a:spcAft>
              <a:buNone/>
            </a:pPr>
            <a:r>
              <a:rPr lang="en-US" sz="1500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spcBef>
                <a:spcPts val="1500"/>
              </a:spcBef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3: Code Generation</a:t>
            </a:r>
            <a:endParaRPr lang="en-US" sz="1500" dirty="0"/>
          </a:p>
        </p:txBody>
      </p:sp>
      <p:pic>
        <p:nvPicPr>
          <p:cNvPr id="24" name="Image 2" descr="/Users/liamwynne/GIT/presentation/preso3/code-ic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9901" y="2012603"/>
            <a:ext cx="330101" cy="330101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349901" y="2536329"/>
            <a:ext cx="2228037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100"/>
              </a:spcBef>
              <a:spcAft>
                <a:spcPts val="7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generates code following approved plan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6349901" y="3039070"/>
            <a:ext cx="2228037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100"/>
              </a:spcBef>
              <a:spcAft>
                <a:spcPts val="7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request includes trace log of all changes and reasoning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6349901" y="3516511"/>
            <a:ext cx="2184350" cy="463451"/>
          </a:xfrm>
          <a:prstGeom prst="roundRect">
            <a:avLst>
              <a:gd name="adj" fmla="val 10961"/>
            </a:avLst>
          </a:prstGeom>
          <a:solidFill>
            <a:srgbClr val="EB1E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3"/>
          <p:cNvSpPr/>
          <p:nvPr/>
        </p:nvSpPr>
        <p:spPr>
          <a:xfrm>
            <a:off x="6418685" y="3605361"/>
            <a:ext cx="204678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Human reviews PR with full audit trail</a:t>
            </a:r>
            <a:endParaRPr lang="en-US" sz="1000" dirty="0"/>
          </a:p>
        </p:txBody>
      </p:sp>
      <p:pic>
        <p:nvPicPr>
          <p:cNvPr id="29" name="Image 3" descr="/Users/liamwynne/GIT/presentation/.claude/skills/pptx-john-holland/assets/John Holland 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901" y="4618583"/>
            <a:ext cx="1015901" cy="33441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752"/>
          </a:xfrm>
          <a:prstGeom prst="rect">
            <a:avLst/>
          </a:prstGeom>
          <a:solidFill>
            <a:srgbClr val="EB1E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Users/liamwynne/GIT/presentation/preso3/chart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950" y="253901"/>
            <a:ext cx="507950" cy="5079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6401" y="293489"/>
            <a:ext cx="533411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Outcomes and ROI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07950" y="1561802"/>
            <a:ext cx="395102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EB1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Realistic Short-Term (3-6 months)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07950" y="1980902"/>
            <a:ext cx="3873550" cy="1376809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algn="l" marL="158750" indent="-158750">
              <a:lnSpc>
                <a:spcPts val="169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10-20% productivity improvement on repetitive tasks</a:t>
            </a:r>
            <a:endParaRPr lang="en-US" sz="1300" dirty="0"/>
          </a:p>
          <a:p>
            <a:pPr algn="l" marL="158750" indent="-158750">
              <a:lnSpc>
                <a:spcPts val="169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onboarding of junior engineers</a:t>
            </a:r>
            <a:endParaRPr lang="en-US" sz="1300" dirty="0"/>
          </a:p>
          <a:p>
            <a:pPr algn="l" marL="158750" indent="-158750">
              <a:lnSpc>
                <a:spcPts val="169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documentation and code consistency</a:t>
            </a:r>
            <a:endParaRPr lang="en-US" sz="1300" dirty="0"/>
          </a:p>
          <a:p>
            <a:pPr algn="l" marL="158750" indent="-158750">
              <a:lnSpc>
                <a:spcPts val="169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context switching for senior engineers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762500" y="1561802"/>
            <a:ext cx="395102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EB1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 Potential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762500" y="1980902"/>
            <a:ext cx="3873550" cy="1376809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algn="l" marL="158750" indent="-158750">
              <a:lnSpc>
                <a:spcPts val="169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Productivity gains scale with model improvements</a:t>
            </a:r>
            <a:endParaRPr lang="en-US" sz="1300" dirty="0"/>
          </a:p>
          <a:p>
            <a:pPr algn="l" marL="158750" indent="-158750">
              <a:lnSpc>
                <a:spcPts val="169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focuses on high-value strategic work</a:t>
            </a:r>
            <a:endParaRPr lang="en-US" sz="1300" dirty="0"/>
          </a:p>
          <a:p>
            <a:pPr algn="l" marL="158750" indent="-158750">
              <a:lnSpc>
                <a:spcPts val="169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delivery of data products</a:t>
            </a:r>
            <a:endParaRPr lang="en-US" sz="1300" dirty="0"/>
          </a:p>
          <a:p>
            <a:pPr algn="l" marL="158750" indent="-158750">
              <a:lnSpc>
                <a:spcPts val="169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through experimentation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762500" y="3548211"/>
            <a:ext cx="3873550" cy="800100"/>
          </a:xfrm>
          <a:prstGeom prst="roundRect">
            <a:avLst>
              <a:gd name="adj" fmla="val 12698"/>
            </a:avLst>
          </a:prstGeom>
          <a:solidFill>
            <a:srgbClr val="B4D2C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953000" y="3738711"/>
            <a:ext cx="3562401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Anthropic Team subscription (~$30-40/user/month)</a:t>
            </a:r>
            <a:endParaRPr lang="en-US" sz="1400" dirty="0"/>
          </a:p>
        </p:txBody>
      </p:sp>
      <p:pic>
        <p:nvPicPr>
          <p:cNvPr id="11" name="Image 1" descr="/Users/liamwynne/GIT/presentation/.claude/skills/pptx-john-holland/assets/John Holland 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901" y="4618583"/>
            <a:ext cx="1015901" cy="33441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752"/>
          </a:xfrm>
          <a:prstGeom prst="rect">
            <a:avLst/>
          </a:prstGeom>
          <a:solidFill>
            <a:srgbClr val="5532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Users/liamwynne/GIT/presentation/preso3/shield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950" y="253901"/>
            <a:ext cx="507950" cy="5079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6401" y="293489"/>
            <a:ext cx="567977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Addressing Security Concerns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07950" y="1561802"/>
            <a:ext cx="395102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5532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Approach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07950" y="1980902"/>
            <a:ext cx="3873550" cy="2437656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algn="l" marL="158750" indent="-158750">
              <a:lnSpc>
                <a:spcPts val="169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lnSpc>
                <a:spcPts val="169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Enterprise-grade Anthropic subscription (data not used for training)</a:t>
            </a:r>
            <a:endParaRPr lang="en-US" sz="1300" dirty="0"/>
          </a:p>
          <a:p>
            <a:pPr algn="l" marL="158750" indent="-158750">
              <a:lnSpc>
                <a:spcPts val="169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lnSpc>
                <a:spcPts val="169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MCP servers operate within network security boundaries</a:t>
            </a:r>
            <a:endParaRPr lang="en-US" sz="1300" dirty="0"/>
          </a:p>
          <a:p>
            <a:pPr algn="l" marL="158750" indent="-158750">
              <a:lnSpc>
                <a:spcPts val="169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lnSpc>
                <a:spcPts val="169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Human review required before any code deployment</a:t>
            </a:r>
            <a:endParaRPr lang="en-US" sz="1300" dirty="0"/>
          </a:p>
          <a:p>
            <a:pPr algn="l" marL="158750" indent="-158750">
              <a:lnSpc>
                <a:spcPts val="169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lnSpc>
                <a:spcPts val="169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Full audit trails of all AI interactions</a:t>
            </a:r>
            <a:endParaRPr lang="en-US" sz="1300" dirty="0"/>
          </a:p>
          <a:p>
            <a:pPr algn="l" marL="158750" indent="-158750">
              <a:lnSpc>
                <a:spcPts val="169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lnSpc>
                <a:spcPts val="169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Read-only access where possible</a:t>
            </a:r>
            <a:endParaRPr lang="en-US" sz="1300" dirty="0"/>
          </a:p>
          <a:p>
            <a:pPr algn="l" marL="158750" indent="-158750">
              <a:lnSpc>
                <a:spcPts val="169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lnSpc>
                <a:spcPts val="169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SSO integration and access controls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762500" y="1561802"/>
            <a:ext cx="395102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5532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We'll work with Security team to: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762500" y="1980902"/>
            <a:ext cx="3873550" cy="846386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algn="l" marL="158750" indent="-158750">
              <a:lnSpc>
                <a:spcPts val="169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acceptable use policies</a:t>
            </a:r>
            <a:endParaRPr lang="en-US" sz="1300" dirty="0"/>
          </a:p>
          <a:p>
            <a:pPr algn="l" marL="158750" indent="-158750">
              <a:lnSpc>
                <a:spcPts val="169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appropriate access levels</a:t>
            </a:r>
            <a:endParaRPr lang="en-US" sz="1300" dirty="0"/>
          </a:p>
          <a:p>
            <a:pPr algn="l" marL="158750" indent="-158750">
              <a:lnSpc>
                <a:spcPts val="169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 monitoring and audit procedures</a:t>
            </a:r>
            <a:endParaRPr lang="en-US" sz="1300" dirty="0"/>
          </a:p>
        </p:txBody>
      </p:sp>
      <p:pic>
        <p:nvPicPr>
          <p:cNvPr id="9" name="Image 1" descr="/Users/liamwynne/GIT/presentation/.claude/skills/pptx-john-holland/assets/John Holland 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901" y="4618583"/>
            <a:ext cx="1015901" cy="33441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752"/>
          </a:xfrm>
          <a:prstGeom prst="rect">
            <a:avLst/>
          </a:prstGeom>
          <a:solidFill>
            <a:srgbClr val="EF4B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Users/liamwynne/GIT/presentation/preso3/warning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950" y="253901"/>
            <a:ext cx="507950" cy="5079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6401" y="293489"/>
            <a:ext cx="535536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Key Approvals Required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07950" y="1333202"/>
            <a:ext cx="3841849" cy="3365897"/>
          </a:xfrm>
          <a:prstGeom prst="roundRect">
            <a:avLst>
              <a:gd name="adj" fmla="val 3019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536525" y="1333202"/>
            <a:ext cx="0" cy="3365897"/>
          </a:xfrm>
          <a:prstGeom prst="line">
            <a:avLst/>
          </a:prstGeom>
          <a:noFill/>
          <a:ln w="57150">
            <a:solidFill>
              <a:srgbClr val="EF4B5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44451" y="1841153"/>
            <a:ext cx="329051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200"/>
              </a:spcAft>
              <a:buNone/>
            </a:pPr>
            <a:r>
              <a:rPr lang="en-US" sz="1800" dirty="0">
                <a:solidFill>
                  <a:srgbClr val="EF4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spcBef>
                <a:spcPts val="1800"/>
              </a:spcBef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EF4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Blocker #1: Security Approval</a:t>
            </a:r>
            <a:endParaRPr lang="en-US" sz="1800" dirty="0"/>
          </a:p>
        </p:txBody>
      </p:sp>
      <p:pic>
        <p:nvPicPr>
          <p:cNvPr id="8" name="Image 1" descr="/Users/liamwynne/GIT/presentation/preso3/lock-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451" y="1930003"/>
            <a:ext cx="355550" cy="3555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44451" y="2526953"/>
            <a:ext cx="3225998" cy="485031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5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 of Anthropic Team licenses</a:t>
            </a:r>
            <a:endParaRPr lang="en-US" sz="1200" dirty="0"/>
          </a:p>
          <a:p>
            <a:pPr algn="l" marL="114300" indent="-114300">
              <a:lnSpc>
                <a:spcPts val="15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review and acceptable use policy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844451" y="3164384"/>
            <a:ext cx="3225998" cy="653951"/>
          </a:xfrm>
          <a:prstGeom prst="roundRect">
            <a:avLst>
              <a:gd name="adj" fmla="val 9710"/>
            </a:avLst>
          </a:prstGeom>
          <a:solidFill>
            <a:srgbClr val="EB1E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941680" y="3291334"/>
            <a:ext cx="303154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ask: Sponsor security review process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794200" y="1333202"/>
            <a:ext cx="3841849" cy="3365897"/>
          </a:xfrm>
          <a:prstGeom prst="roundRect">
            <a:avLst>
              <a:gd name="adj" fmla="val 3019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9"/>
          <p:cNvSpPr/>
          <p:nvPr/>
        </p:nvSpPr>
        <p:spPr>
          <a:xfrm>
            <a:off x="4822775" y="1333202"/>
            <a:ext cx="0" cy="3365897"/>
          </a:xfrm>
          <a:prstGeom prst="line">
            <a:avLst/>
          </a:prstGeom>
          <a:noFill/>
          <a:ln w="57150">
            <a:solidFill>
              <a:srgbClr val="EF4B5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130701" y="1841153"/>
            <a:ext cx="329051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200"/>
              </a:spcAft>
              <a:buNone/>
            </a:pPr>
            <a:r>
              <a:rPr lang="en-US" sz="1800" dirty="0">
                <a:solidFill>
                  <a:srgbClr val="EF4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spcBef>
                <a:spcPts val="1800"/>
              </a:spcBef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EF4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Blocker #2: Network Whitelisting</a:t>
            </a:r>
            <a:endParaRPr lang="en-US" sz="1800" dirty="0"/>
          </a:p>
        </p:txBody>
      </p:sp>
      <p:pic>
        <p:nvPicPr>
          <p:cNvPr id="15" name="Image 2" descr="/Users/liamwynne/GIT/presentation/preso3/cogs-ic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0701" y="1930003"/>
            <a:ext cx="355550" cy="35555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130701" y="2526953"/>
            <a:ext cx="3225998" cy="970062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5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servers need network access</a:t>
            </a:r>
            <a:endParaRPr lang="en-US" sz="1200" dirty="0"/>
          </a:p>
          <a:p>
            <a:pPr algn="l" marL="114300" indent="-114300">
              <a:lnSpc>
                <a:spcPts val="15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Architectural governance typically required</a:t>
            </a:r>
            <a:endParaRPr lang="en-US" sz="1200" dirty="0"/>
          </a:p>
          <a:p>
            <a:pPr algn="l" marL="114300" indent="-114300">
              <a:lnSpc>
                <a:spcPts val="15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We're trying to run a POC, not production rollout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5130701" y="3649414"/>
            <a:ext cx="3225998" cy="653951"/>
          </a:xfrm>
          <a:prstGeom prst="roundRect">
            <a:avLst>
              <a:gd name="adj" fmla="val 9710"/>
            </a:avLst>
          </a:prstGeom>
          <a:solidFill>
            <a:srgbClr val="EB1E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5227930" y="3776365"/>
            <a:ext cx="303154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ask: Fast-track POC approval with limited scope</a:t>
            </a:r>
            <a:endParaRPr lang="en-US" sz="1300" dirty="0"/>
          </a:p>
        </p:txBody>
      </p:sp>
      <p:pic>
        <p:nvPicPr>
          <p:cNvPr id="19" name="Image 3" descr="/Users/liamwynne/GIT/presentation/.claude/skills/pptx-john-holland/assets/John Holland 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901" y="4618583"/>
            <a:ext cx="1015901" cy="33441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752"/>
          </a:xfrm>
          <a:prstGeom prst="rect">
            <a:avLst/>
          </a:prstGeom>
          <a:solidFill>
            <a:srgbClr val="EB1E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Users/liamwynne/GIT/presentation/preso3/speedometer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950" y="253901"/>
            <a:ext cx="507950" cy="5079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6401" y="293489"/>
            <a:ext cx="513904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Industry is Moving Fast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07950" y="1447502"/>
            <a:ext cx="829066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EB1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Happening: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7950" y="1761827"/>
            <a:ext cx="8128099" cy="883295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algn="l" marL="158750" indent="-15875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Leading engineering teams are already using AI agents in production</a:t>
            </a:r>
            <a:endParaRPr lang="en-US" sz="1200" dirty="0"/>
          </a:p>
          <a:p>
            <a:pPr algn="l" marL="158750" indent="-15875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engineering specifically identified as high-ROI use case for AI</a:t>
            </a:r>
            <a:endParaRPr lang="en-US" sz="1200" dirty="0"/>
          </a:p>
          <a:p>
            <a:pPr algn="l" marL="158750" indent="-15875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capabilities doubling every 6-12 months</a:t>
            </a:r>
            <a:endParaRPr lang="en-US" sz="1200" dirty="0"/>
          </a:p>
          <a:p>
            <a:pPr algn="l" marL="158750" indent="-15875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Companies that experiment now will lead tomorrow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07950" y="2772073"/>
            <a:ext cx="829066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EB1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of Waiting: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7950" y="3086398"/>
            <a:ext cx="8128099" cy="649784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algn="l" marL="158750" indent="-15875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Falling behind in AI-augmented workflows</a:t>
            </a:r>
            <a:endParaRPr lang="en-US" sz="1200" dirty="0"/>
          </a:p>
          <a:p>
            <a:pPr algn="l" marL="158750" indent="-15875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productivity gains competitors are realizing</a:t>
            </a:r>
            <a:endParaRPr lang="en-US" sz="1200" dirty="0"/>
          </a:p>
          <a:p>
            <a:pPr algn="l" marL="158750" indent="-15875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Longer catch-up period when we eventually adopt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7950" y="3863132"/>
            <a:ext cx="8128099" cy="463451"/>
          </a:xfrm>
          <a:prstGeom prst="roundRect">
            <a:avLst>
              <a:gd name="adj" fmla="val 16442"/>
            </a:avLst>
          </a:prstGeom>
          <a:solidFill>
            <a:srgbClr val="B4D2C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56159" y="3990082"/>
            <a:ext cx="803168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POC positions us as innovators, not followers</a:t>
            </a:r>
            <a:endParaRPr lang="en-US" sz="1400" dirty="0"/>
          </a:p>
        </p:txBody>
      </p:sp>
      <p:pic>
        <p:nvPicPr>
          <p:cNvPr id="11" name="Image 1" descr="/Users/liamwynne/GIT/presentation/.claude/skills/pptx-john-holland/assets/John Holland 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901" y="4618583"/>
            <a:ext cx="1015901" cy="33441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752"/>
          </a:xfrm>
          <a:prstGeom prst="rect">
            <a:avLst/>
          </a:prstGeom>
          <a:solidFill>
            <a:srgbClr val="5532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Users/liamwynne/GIT/presentation/preso3/target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950" y="253901"/>
            <a:ext cx="507950" cy="5079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6401" y="293489"/>
            <a:ext cx="518261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We'll Measure Success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07950" y="1561802"/>
            <a:ext cx="395102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5532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3-Month POC Metrics: Quantitative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07950" y="1980902"/>
            <a:ext cx="3873550" cy="1376809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algn="l" marL="158750" indent="-158750">
              <a:lnSpc>
                <a:spcPts val="169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lnSpc>
                <a:spcPts val="169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Time to complete standard data modeling tasks (% reduction)</a:t>
            </a:r>
            <a:endParaRPr lang="en-US" sz="1300" dirty="0"/>
          </a:p>
          <a:p>
            <a:pPr algn="l" marL="158750" indent="-158750">
              <a:lnSpc>
                <a:spcPts val="169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lnSpc>
                <a:spcPts val="169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Number of models developed per sprint</a:t>
            </a:r>
            <a:endParaRPr lang="en-US" sz="1300" dirty="0"/>
          </a:p>
          <a:p>
            <a:pPr algn="l" marL="158750" indent="-158750">
              <a:lnSpc>
                <a:spcPts val="169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lnSpc>
                <a:spcPts val="169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Code review cycles required (reduced rework)</a:t>
            </a:r>
            <a:endParaRPr lang="en-US" sz="1300" dirty="0"/>
          </a:p>
          <a:p>
            <a:pPr algn="l" marL="158750" indent="-158750">
              <a:lnSpc>
                <a:spcPts val="169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lnSpc>
                <a:spcPts val="169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Documentation completeness scores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762500" y="1561802"/>
            <a:ext cx="395102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5532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3-Month POC Metrics: Qualitative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762500" y="1980902"/>
            <a:ext cx="3873550" cy="1060847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algn="l" marL="158750" indent="-158750">
              <a:lnSpc>
                <a:spcPts val="169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lnSpc>
                <a:spcPts val="169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Engineer satisfaction and perceived productivity</a:t>
            </a:r>
            <a:endParaRPr lang="en-US" sz="1300" dirty="0"/>
          </a:p>
          <a:p>
            <a:pPr algn="l" marL="158750" indent="-158750">
              <a:lnSpc>
                <a:spcPts val="169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lnSpc>
                <a:spcPts val="169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Code quality maintained or improved</a:t>
            </a:r>
            <a:endParaRPr lang="en-US" sz="1300" dirty="0"/>
          </a:p>
          <a:p>
            <a:pPr algn="l" marL="158750" indent="-158750">
              <a:lnSpc>
                <a:spcPts val="169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lnSpc>
                <a:spcPts val="169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Learning curve for team members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762500" y="3232249"/>
            <a:ext cx="3873550" cy="800100"/>
          </a:xfrm>
          <a:prstGeom prst="roundRect">
            <a:avLst>
              <a:gd name="adj" fmla="val 12698"/>
            </a:avLst>
          </a:prstGeom>
          <a:solidFill>
            <a:srgbClr val="B4D2C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918075" y="3422749"/>
            <a:ext cx="3562401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Point: Continue, expand, or stop based on data</a:t>
            </a:r>
            <a:endParaRPr lang="en-US" sz="1400" dirty="0"/>
          </a:p>
        </p:txBody>
      </p:sp>
      <p:pic>
        <p:nvPicPr>
          <p:cNvPr id="11" name="Image 1" descr="/Users/liamwynne/GIT/presentation/.claude/skills/pptx-john-holland/assets/John Holland 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901" y="4618583"/>
            <a:ext cx="1015901" cy="33441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752"/>
          </a:xfrm>
          <a:prstGeom prst="rect">
            <a:avLst/>
          </a:prstGeom>
          <a:solidFill>
            <a:srgbClr val="EB1E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Users/liamwynne/GIT/presentation/preso3/clock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950" y="253901"/>
            <a:ext cx="507950" cy="5079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6401" y="293489"/>
            <a:ext cx="438336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Path Forward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444401" y="1333202"/>
            <a:ext cx="1825675" cy="3492847"/>
          </a:xfrm>
          <a:prstGeom prst="roundRect">
            <a:avLst>
              <a:gd name="adj" fmla="val 695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44401" y="1361777"/>
            <a:ext cx="1825675" cy="0"/>
          </a:xfrm>
          <a:prstGeom prst="line">
            <a:avLst/>
          </a:prstGeom>
          <a:noFill/>
          <a:ln w="57150">
            <a:solidFill>
              <a:srgbClr val="EB1E3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73001" y="1822103"/>
            <a:ext cx="139584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EB1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Approvals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73001" y="2437954"/>
            <a:ext cx="139584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000"/>
              </a:spcAft>
              <a:buNone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1-4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73001" y="2717304"/>
            <a:ext cx="1368475" cy="1604963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3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review and license procurement</a:t>
            </a:r>
            <a:endParaRPr lang="en-US" sz="1100" dirty="0"/>
          </a:p>
          <a:p>
            <a:pPr algn="l" marL="114300" indent="-114300">
              <a:lnSpc>
                <a:spcPts val="143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access approval for MCP servers</a:t>
            </a:r>
            <a:endParaRPr lang="en-US" sz="1100" dirty="0"/>
          </a:p>
          <a:p>
            <a:pPr algn="l" marL="114300" indent="-114300">
              <a:lnSpc>
                <a:spcPts val="143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acceptable use policies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587526" y="1333202"/>
            <a:ext cx="1825675" cy="3492847"/>
          </a:xfrm>
          <a:prstGeom prst="roundRect">
            <a:avLst>
              <a:gd name="adj" fmla="val 695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2587526" y="1361777"/>
            <a:ext cx="1825675" cy="0"/>
          </a:xfrm>
          <a:prstGeom prst="line">
            <a:avLst/>
          </a:prstGeom>
          <a:noFill/>
          <a:ln w="57150">
            <a:solidFill>
              <a:srgbClr val="55328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816126" y="1822103"/>
            <a:ext cx="139584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5532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Setup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2816126" y="2437954"/>
            <a:ext cx="139584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000"/>
              </a:spcAft>
              <a:buNone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5-6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816126" y="2717304"/>
            <a:ext cx="1368475" cy="1423392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3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MCP servers</a:t>
            </a:r>
            <a:endParaRPr lang="en-US" sz="1100" dirty="0"/>
          </a:p>
          <a:p>
            <a:pPr algn="l" marL="114300" indent="-114300">
              <a:lnSpc>
                <a:spcPts val="143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training on agent workflows</a:t>
            </a:r>
            <a:endParaRPr lang="en-US" sz="1100" dirty="0"/>
          </a:p>
          <a:p>
            <a:pPr algn="l" marL="114300" indent="-114300">
              <a:lnSpc>
                <a:spcPts val="143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 measurement baselines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730651" y="1333202"/>
            <a:ext cx="1825675" cy="3492847"/>
          </a:xfrm>
          <a:prstGeom prst="roundRect">
            <a:avLst>
              <a:gd name="adj" fmla="val 695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4730651" y="1361777"/>
            <a:ext cx="1825675" cy="0"/>
          </a:xfrm>
          <a:prstGeom prst="line">
            <a:avLst/>
          </a:prstGeom>
          <a:noFill/>
          <a:ln w="57150">
            <a:solidFill>
              <a:srgbClr val="89D0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959251" y="1822103"/>
            <a:ext cx="139584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POC Execution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959251" y="2437954"/>
            <a:ext cx="139584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000"/>
              </a:spcAft>
              <a:buNone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7-18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959251" y="2717304"/>
            <a:ext cx="1368475" cy="1423392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3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 with simple use cases</a:t>
            </a:r>
            <a:endParaRPr lang="en-US" sz="1100" dirty="0"/>
          </a:p>
          <a:p>
            <a:pPr algn="l" marL="114300" indent="-114300">
              <a:lnSpc>
                <a:spcPts val="143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complexity as we learn</a:t>
            </a:r>
            <a:endParaRPr lang="en-US" sz="1100" dirty="0"/>
          </a:p>
          <a:p>
            <a:pPr algn="l" marL="114300" indent="-114300">
              <a:lnSpc>
                <a:spcPts val="143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metric tracking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873776" y="1333202"/>
            <a:ext cx="1825675" cy="3492847"/>
          </a:xfrm>
          <a:prstGeom prst="roundRect">
            <a:avLst>
              <a:gd name="adj" fmla="val 695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8"/>
          <p:cNvSpPr/>
          <p:nvPr/>
        </p:nvSpPr>
        <p:spPr>
          <a:xfrm>
            <a:off x="6873776" y="1361777"/>
            <a:ext cx="1825675" cy="0"/>
          </a:xfrm>
          <a:prstGeom prst="line">
            <a:avLst/>
          </a:prstGeom>
          <a:noFill/>
          <a:ln w="57150">
            <a:solidFill>
              <a:srgbClr val="B4D2C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102376" y="1822103"/>
            <a:ext cx="1395844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4: Review &amp; Decision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102376" y="2676079"/>
            <a:ext cx="139584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000"/>
              </a:spcAft>
              <a:buNone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19-20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102376" y="2955429"/>
            <a:ext cx="1368475" cy="984052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3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 findings and recommendations</a:t>
            </a:r>
            <a:endParaRPr lang="en-US" sz="1100" dirty="0"/>
          </a:p>
          <a:p>
            <a:pPr algn="l" marL="114300" indent="-114300">
              <a:lnSpc>
                <a:spcPts val="143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Go/No-Go for broader rollout</a:t>
            </a:r>
            <a:endParaRPr lang="en-US" sz="1100" dirty="0"/>
          </a:p>
        </p:txBody>
      </p:sp>
      <p:pic>
        <p:nvPicPr>
          <p:cNvPr id="25" name="Image 1" descr="/Users/liamwynne/GIT/presentation/.claude/skills/pptx-john-holland/assets/John Holland 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901" y="4618583"/>
            <a:ext cx="1015901" cy="33441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752"/>
          </a:xfrm>
          <a:prstGeom prst="rect">
            <a:avLst/>
          </a:prstGeom>
          <a:solidFill>
            <a:srgbClr val="EB1E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Users/liamwynne/GIT/presentation/preso3/handshake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950" y="253901"/>
            <a:ext cx="507950" cy="5079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6401" y="274439"/>
            <a:ext cx="5180639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Experiment Together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07950" y="1523702"/>
            <a:ext cx="395102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EB1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We're Asking For: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07950" y="1942802"/>
            <a:ext cx="3873550" cy="1489770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algn="l" marL="158750" indent="-158750">
              <a:lnSpc>
                <a:spcPts val="169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lnSpc>
                <a:spcPts val="169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Sponsorship of security review for Anthropic licenses</a:t>
            </a:r>
            <a:endParaRPr lang="en-US" sz="1300" dirty="0"/>
          </a:p>
          <a:p>
            <a:pPr algn="l" marL="158750" indent="-158750">
              <a:lnSpc>
                <a:spcPts val="169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lnSpc>
                <a:spcPts val="169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Fast-track network approval for MCP servers (POC scope)</a:t>
            </a:r>
            <a:endParaRPr lang="en-US" sz="1300" dirty="0"/>
          </a:p>
          <a:p>
            <a:pPr algn="l" marL="158750" indent="-158750">
              <a:lnSpc>
                <a:spcPts val="169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lnSpc>
                <a:spcPts val="169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Support for 3-month POC with Data &amp; Analytics team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762500" y="1523702"/>
            <a:ext cx="395102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EB1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You'll Get: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762500" y="1942802"/>
            <a:ext cx="3873550" cy="1376809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algn="l" marL="158750" indent="-158750">
              <a:lnSpc>
                <a:spcPts val="169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Data-driven insights on AI productivity potential</a:t>
            </a:r>
            <a:endParaRPr lang="en-US" sz="1300" dirty="0"/>
          </a:p>
          <a:p>
            <a:pPr algn="l" marL="158750" indent="-158750">
              <a:lnSpc>
                <a:spcPts val="169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points for broader organizational AI strategy</a:t>
            </a:r>
            <a:endParaRPr lang="en-US" sz="1300" dirty="0"/>
          </a:p>
          <a:p>
            <a:pPr algn="l" marL="158750" indent="-158750">
              <a:lnSpc>
                <a:spcPts val="169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team experienced in cutting-edge AI workflows</a:t>
            </a:r>
            <a:endParaRPr lang="en-US" sz="1300" dirty="0"/>
          </a:p>
          <a:p>
            <a:pPr algn="l" marL="158750" indent="-158750">
              <a:lnSpc>
                <a:spcPts val="169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Lessons learned to inform future initiatives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7950" y="4137124"/>
            <a:ext cx="8128099" cy="625376"/>
          </a:xfrm>
          <a:prstGeom prst="roundRect">
            <a:avLst>
              <a:gd name="adj" fmla="val 12185"/>
            </a:avLst>
          </a:prstGeom>
          <a:solidFill>
            <a:srgbClr val="5532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33883" y="4340275"/>
            <a:ext cx="7876234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Step: Security team introduction and kickoff meeting</a:t>
            </a:r>
            <a:endParaRPr lang="en-US" sz="1500" dirty="0"/>
          </a:p>
        </p:txBody>
      </p:sp>
      <p:pic>
        <p:nvPicPr>
          <p:cNvPr id="11" name="Image 1" descr="/Users/liamwynne/GIT/presentation/.claude/skills/pptx-john-holland/assets/John Holland 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901" y="4618583"/>
            <a:ext cx="1015901" cy="33441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AI-Augmented Data Engineering: A Proof of Concept Proposal</dc:title>
  <dc:subject>Anthropic Claude &amp; MCP Servers POC</dc:subject>
  <dc:creator>Data &amp; Analytics Team</dc:creator>
  <cp:lastModifiedBy>Data &amp; Analytics Team</cp:lastModifiedBy>
  <cp:revision>1</cp:revision>
  <dcterms:created xsi:type="dcterms:W3CDTF">2025-12-09T03:57:16Z</dcterms:created>
  <dcterms:modified xsi:type="dcterms:W3CDTF">2025-12-09T03:57:16Z</dcterms:modified>
</cp:coreProperties>
</file>